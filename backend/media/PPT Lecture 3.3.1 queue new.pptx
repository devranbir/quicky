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8"/>
  </p:notesMasterIdLst>
  <p:handoutMasterIdLst>
    <p:handoutMasterId r:id="rId29"/>
  </p:handoutMasterIdLst>
  <p:sldIdLst>
    <p:sldId id="333" r:id="rId3"/>
    <p:sldId id="334" r:id="rId4"/>
    <p:sldId id="335" r:id="rId5"/>
    <p:sldId id="336" r:id="rId6"/>
    <p:sldId id="332" r:id="rId7"/>
    <p:sldId id="331" r:id="rId8"/>
    <p:sldId id="295" r:id="rId9"/>
    <p:sldId id="321" r:id="rId10"/>
    <p:sldId id="322" r:id="rId11"/>
    <p:sldId id="323" r:id="rId12"/>
    <p:sldId id="324" r:id="rId13"/>
    <p:sldId id="258" r:id="rId14"/>
    <p:sldId id="259" r:id="rId15"/>
    <p:sldId id="325" r:id="rId16"/>
    <p:sldId id="326" r:id="rId17"/>
    <p:sldId id="328" r:id="rId18"/>
    <p:sldId id="313" r:id="rId19"/>
    <p:sldId id="314" r:id="rId20"/>
    <p:sldId id="315" r:id="rId21"/>
    <p:sldId id="316" r:id="rId22"/>
    <p:sldId id="329" r:id="rId23"/>
    <p:sldId id="330" r:id="rId24"/>
    <p:sldId id="294" r:id="rId25"/>
    <p:sldId id="284"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73" d="100"/>
          <a:sy n="73" d="100"/>
        </p:scale>
        <p:origin x="486"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12/20/2024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699818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3000731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374271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12/20/2024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cs.uregina.ca/Links/class-info/210/Queue/"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stack-data-structure-introduction-program/" TargetMode="External"/><Relationship Id="rId2" Type="http://schemas.openxmlformats.org/officeDocument/2006/relationships/hyperlink" Target="https://www.cs.cmu.edu/~adamchik/15-121/lectures/Stacks%20and%20Queues/Stacks%20and%20Queues.html" TargetMode="External"/><Relationship Id="rId1" Type="http://schemas.openxmlformats.org/officeDocument/2006/relationships/slideLayout" Target="../slideLayouts/slideLayout2.xml"/><Relationship Id="rId5" Type="http://schemas.openxmlformats.org/officeDocument/2006/relationships/hyperlink" Target="http://www.yashcode.com/2017/11/prefix-to-postfix-conversion-using-stack.html" TargetMode="External"/><Relationship Id="rId4" Type="http://schemas.openxmlformats.org/officeDocument/2006/relationships/hyperlink" Target="https://www.geeksforgeeks.org/queue-set-1introduction-and-array-implementation/" TargetMode="Externa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43"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3871857" y="6296559"/>
            <a:ext cx="1830785" cy="369332"/>
          </a:xfrm>
          <a:prstGeom prst="rect">
            <a:avLst/>
          </a:prstGeom>
          <a:noFill/>
        </p:spPr>
        <p:txBody>
          <a:bodyPr wrap="square" rtlCol="0">
            <a:spAutoFit/>
          </a:bodyPr>
          <a:lstStyle/>
          <a:p>
            <a:r>
              <a:rPr lang="en-US" dirty="0"/>
              <a:t> </a:t>
            </a:r>
          </a:p>
        </p:txBody>
      </p:sp>
      <p:sp>
        <p:nvSpPr>
          <p:cNvPr id="26" name="TextBox 25"/>
          <p:cNvSpPr txBox="1">
            <a:spLocks noChangeArrowheads="1"/>
          </p:cNvSpPr>
          <p:nvPr/>
        </p:nvSpPr>
        <p:spPr bwMode="auto">
          <a:xfrm>
            <a:off x="1562130" y="1791350"/>
            <a:ext cx="9063318" cy="2557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defRPr/>
            </a:pPr>
            <a:r>
              <a:rPr lang="en-US" sz="2800" b="1" dirty="0">
                <a:latin typeface="Arial Black" panose="020B0A04020102020204" pitchFamily="34" charset="0"/>
                <a:ea typeface="Karla" pitchFamily="2" charset="0"/>
                <a:cs typeface="Karla" pitchFamily="2" charset="0"/>
              </a:rPr>
              <a:t>UNIVERSITY INSTITUTE OF </a:t>
            </a:r>
            <a:r>
              <a:rPr lang="en-US" sz="2800" b="1" dirty="0" smtClean="0">
                <a:latin typeface="Arial Black" panose="020B0A04020102020204" pitchFamily="34" charset="0"/>
                <a:ea typeface="Karla" pitchFamily="2" charset="0"/>
                <a:cs typeface="Karla" pitchFamily="2" charset="0"/>
              </a:rPr>
              <a:t>ENGINEERING</a:t>
            </a:r>
          </a:p>
          <a:p>
            <a:pPr algn="ctr" defTabSz="622300">
              <a:lnSpc>
                <a:spcPct val="90000"/>
              </a:lnSpc>
              <a:spcBef>
                <a:spcPct val="0"/>
              </a:spcBef>
              <a:spcAft>
                <a:spcPct val="35000"/>
              </a:spcAft>
              <a:defRPr/>
            </a:pPr>
            <a:r>
              <a:rPr lang="en-US" sz="2800" b="1" dirty="0">
                <a:latin typeface="Arial Black" panose="020B0A04020102020204" pitchFamily="34" charset="0"/>
                <a:ea typeface="Karla" pitchFamily="2" charset="0"/>
                <a:cs typeface="Karla" pitchFamily="2" charset="0"/>
              </a:rPr>
              <a:t>DEPARTMENT- ACADEMIC UNITS</a:t>
            </a:r>
          </a:p>
          <a:p>
            <a:pPr algn="ctr" defTabSz="622300">
              <a:lnSpc>
                <a:spcPct val="90000"/>
              </a:lnSpc>
              <a:spcBef>
                <a:spcPct val="0"/>
              </a:spcBef>
              <a:spcAft>
                <a:spcPct val="35000"/>
              </a:spcAft>
              <a:defRPr/>
            </a:pPr>
            <a:r>
              <a:rPr lang="en-US" sz="2400" dirty="0" smtClean="0">
                <a:latin typeface="Times New Roman" panose="02020603050405020304" pitchFamily="18" charset="0"/>
                <a:ea typeface="Karla" pitchFamily="2" charset="0"/>
                <a:cs typeface="Times New Roman" panose="02020603050405020304" pitchFamily="18" charset="0"/>
              </a:rPr>
              <a:t>FIRST YEAR ENGINEERING PROGRAMMES</a:t>
            </a:r>
            <a:endParaRPr lang="en-US" sz="2400" dirty="0">
              <a:latin typeface="Times New Roman" panose="02020603050405020304" pitchFamily="18" charset="0"/>
              <a:ea typeface="Karla" pitchFamily="2" charset="0"/>
              <a:cs typeface="Times New Roman" panose="02020603050405020304" pitchFamily="18" charset="0"/>
            </a:endParaRPr>
          </a:p>
          <a:p>
            <a:pPr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smtClean="0">
                <a:latin typeface="Times New Roman" panose="02020603050405020304" pitchFamily="18" charset="0"/>
                <a:ea typeface="Calibri" panose="020F0502020204030204" pitchFamily="34" charset="0"/>
                <a:cs typeface="Times New Roman" panose="02020603050405020304" pitchFamily="18" charset="0"/>
              </a:rPr>
              <a:t>:</a:t>
            </a:r>
            <a:r>
              <a:rPr lang="en-US" sz="2800" b="1" smtClean="0">
                <a:latin typeface="Arial Black" panose="020B0A04020102020204" pitchFamily="34" charset="0"/>
                <a:ea typeface="Karla" pitchFamily="2" charset="0"/>
                <a:cs typeface="Karla" pitchFamily="2" charset="0"/>
              </a:rPr>
              <a:t> </a:t>
            </a:r>
            <a:r>
              <a:rPr lang="en-US" sz="2800" smtClean="0">
                <a:latin typeface="Times New Roman" panose="02020603050405020304" pitchFamily="18" charset="0"/>
                <a:ea typeface="Calibri" panose="020F0502020204030204" pitchFamily="34" charset="0"/>
                <a:cs typeface="Times New Roman" panose="02020603050405020304" pitchFamily="18" charset="0"/>
              </a:rPr>
              <a:t>Basic</a:t>
            </a:r>
            <a:r>
              <a:rPr lang="en-US" sz="2800" smtClean="0">
                <a:latin typeface="Times New Roman" pitchFamily="18" charset="0"/>
                <a:ea typeface="Karla" pitchFamily="2" charset="0"/>
                <a:cs typeface="Times New Roman" pitchFamily="18" charset="0"/>
              </a:rPr>
              <a:t> </a:t>
            </a:r>
            <a:r>
              <a:rPr lang="en-US" sz="2800" dirty="0" smtClean="0">
                <a:latin typeface="Times New Roman" pitchFamily="18" charset="0"/>
                <a:ea typeface="Calibri" panose="020F0502020204030204" pitchFamily="34" charset="0"/>
                <a:cs typeface="Times New Roman" pitchFamily="18" charset="0"/>
              </a:rPr>
              <a:t>Data Structures using C++</a:t>
            </a:r>
          </a:p>
          <a:p>
            <a:pPr algn="ctr" defTabSz="622300">
              <a:lnSpc>
                <a:spcPct val="90000"/>
              </a:lnSpc>
              <a:spcBef>
                <a:spcPct val="0"/>
              </a:spcBef>
              <a:spcAft>
                <a:spcPct val="35000"/>
              </a:spcAft>
            </a:pPr>
            <a:r>
              <a:rPr lang="en-US" sz="2800" dirty="0" smtClean="0">
                <a:latin typeface="Times New Roman" pitchFamily="18" charset="0"/>
                <a:ea typeface="Calibri" panose="020F0502020204030204" pitchFamily="34" charset="0"/>
                <a:cs typeface="Times New Roman" pitchFamily="18" charset="0"/>
              </a:rPr>
              <a:t>Subject Code: </a:t>
            </a:r>
            <a:r>
              <a:rPr lang="en-US" sz="2800" dirty="0" smtClean="0">
                <a:latin typeface="Times New Roman" pitchFamily="18" charset="0"/>
                <a:ea typeface="Calibri" panose="020F0502020204030204" pitchFamily="34" charset="0"/>
                <a:cs typeface="Times New Roman" pitchFamily="18" charset="0"/>
              </a:rPr>
              <a:t>24CSH-103</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
        <p:nvSpPr>
          <p:cNvPr id="16" name="TextBox 15"/>
          <p:cNvSpPr txBox="1">
            <a:spLocks noChangeArrowheads="1"/>
          </p:cNvSpPr>
          <p:nvPr/>
        </p:nvSpPr>
        <p:spPr bwMode="auto">
          <a:xfrm>
            <a:off x="-459213" y="6014156"/>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QUEUE </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4241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1645920"/>
          </a:xfrm>
        </p:spPr>
        <p:txBody>
          <a:bodyPr>
            <a:normAutofit/>
          </a:bodyPr>
          <a:lstStyle/>
          <a:p>
            <a:pPr algn="ctr"/>
            <a:r>
              <a:rPr lang="en-US" b="1" dirty="0" smtClean="0">
                <a:latin typeface="+mn-lt"/>
              </a:rPr>
              <a:t>Basic</a:t>
            </a:r>
            <a:r>
              <a:rPr lang="en-IN" b="1" dirty="0" smtClean="0">
                <a:latin typeface="+mn-lt"/>
              </a:rPr>
              <a:t> </a:t>
            </a:r>
            <a:r>
              <a:rPr lang="en-IN" b="1" dirty="0">
                <a:latin typeface="+mn-lt"/>
              </a:rPr>
              <a:t>Data Structure Using C++</a:t>
            </a:r>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600075" y="2136775"/>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6" name="Table 5"/>
          <p:cNvGraphicFramePr>
            <a:graphicFrameLocks noGrp="1"/>
          </p:cNvGraphicFramePr>
          <p:nvPr/>
        </p:nvGraphicFramePr>
        <p:xfrm>
          <a:off x="248648" y="2630329"/>
          <a:ext cx="5459821" cy="3783474"/>
        </p:xfrm>
        <a:graphic>
          <a:graphicData uri="http://schemas.openxmlformats.org/drawingml/2006/table">
            <a:tbl>
              <a:tblPr firstRow="1" firstCol="1" bandRow="1">
                <a:tableStyleId>{5C22544A-7EE6-4342-B048-85BDC9FD1C3A}</a:tableStyleId>
              </a:tblPr>
              <a:tblGrid>
                <a:gridCol w="5459821">
                  <a:extLst>
                    <a:ext uri="{9D8B030D-6E8A-4147-A177-3AD203B41FA5}">
                      <a16:colId xmlns:a16="http://schemas.microsoft.com/office/drawing/2014/main" val="98381966"/>
                    </a:ext>
                  </a:extLst>
                </a:gridCol>
              </a:tblGrid>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enable the students to understand various stages and constructs of C++ programming language. </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697720509"/>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improve their ability to analyze and address variety of problems in C++.</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09109202"/>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concept of data structures and various operations on them.</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991538032"/>
                  </a:ext>
                </a:extLst>
              </a:tr>
              <a:tr h="961675">
                <a:tc>
                  <a:txBody>
                    <a:bodyPr/>
                    <a:lstStyle/>
                    <a:p>
                      <a:pPr marL="285750" indent="-285750" algn="just">
                        <a:lnSpc>
                          <a:spcPct val="97000"/>
                        </a:lnSpc>
                        <a:spcBef>
                          <a:spcPts val="420"/>
                        </a:spcBef>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properties of various data structures and able to identify the strengths and weaknesses of different data structures.</a:t>
                      </a:r>
                      <a:endParaRPr lang="en-IN" sz="1800" dirty="0">
                        <a:solidFill>
                          <a:schemeClr val="tx1"/>
                        </a:solidFill>
                        <a:effectLst/>
                        <a:latin typeface="+mj-lt"/>
                      </a:endParaRPr>
                    </a:p>
                  </a:txBody>
                  <a:tcPr marL="68580" marR="68580" marT="0" marB="0">
                    <a:solidFill>
                      <a:schemeClr val="accent1">
                        <a:lumMod val="40000"/>
                        <a:lumOff val="60000"/>
                      </a:schemeClr>
                    </a:solidFill>
                  </a:tcPr>
                </a:tc>
                <a:extLst>
                  <a:ext uri="{0D108BD9-81ED-4DB2-BD59-A6C34878D82A}">
                    <a16:rowId xmlns:a16="http://schemas.microsoft.com/office/drawing/2014/main" val="1306193080"/>
                  </a:ext>
                </a:extLst>
              </a:tr>
              <a:tr h="1060817">
                <a:tc>
                  <a:txBody>
                    <a:bodyPr/>
                    <a:lstStyle/>
                    <a:p>
                      <a:pPr marL="285750" indent="-285750">
                        <a:lnSpc>
                          <a:spcPct val="107000"/>
                        </a:lnSpc>
                        <a:spcAft>
                          <a:spcPts val="0"/>
                        </a:spcAft>
                        <a:buFont typeface="Arial" panose="020B0604020202020204" pitchFamily="34" charset="0"/>
                        <a:buChar char="•"/>
                      </a:pPr>
                      <a:r>
                        <a:rPr lang="en-US" sz="1800" dirty="0">
                          <a:solidFill>
                            <a:schemeClr val="tx1"/>
                          </a:solidFill>
                          <a:effectLst/>
                          <a:latin typeface="+mj-lt"/>
                        </a:rPr>
                        <a:t>To analyze and compare the efficiency of algorithms and learn to design efficient algorithms for solving computing problems</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572423643"/>
                  </a:ext>
                </a:extLst>
              </a:tr>
            </a:tbl>
          </a:graphicData>
        </a:graphic>
      </p:graphicFrame>
    </p:spTree>
    <p:extLst>
      <p:ext uri="{BB962C8B-B14F-4D97-AF65-F5344CB8AC3E}">
        <p14:creationId xmlns:p14="http://schemas.microsoft.com/office/powerpoint/2010/main" val="22016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118728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graphicFrame>
        <p:nvGraphicFramePr>
          <p:cNvPr id="3" name="Table 2"/>
          <p:cNvGraphicFramePr>
            <a:graphicFrameLocks noGrp="1"/>
          </p:cNvGraphicFramePr>
          <p:nvPr>
            <p:extLst/>
          </p:nvPr>
        </p:nvGraphicFramePr>
        <p:xfrm>
          <a:off x="838200" y="5166173"/>
          <a:ext cx="10515600" cy="1275589"/>
        </p:xfrm>
        <a:graphic>
          <a:graphicData uri="http://schemas.openxmlformats.org/drawingml/2006/table">
            <a:tbl>
              <a:tblPr bandRow="1">
                <a:tableStyleId>{5C22544A-7EE6-4342-B048-85BDC9FD1C3A}</a:tableStyleId>
              </a:tblPr>
              <a:tblGrid>
                <a:gridCol w="542605">
                  <a:extLst>
                    <a:ext uri="{9D8B030D-6E8A-4147-A177-3AD203B41FA5}">
                      <a16:colId xmlns:a16="http://schemas.microsoft.com/office/drawing/2014/main" val="245650569"/>
                    </a:ext>
                  </a:extLst>
                </a:gridCol>
                <a:gridCol w="1270284">
                  <a:extLst>
                    <a:ext uri="{9D8B030D-6E8A-4147-A177-3AD203B41FA5}">
                      <a16:colId xmlns:a16="http://schemas.microsoft.com/office/drawing/2014/main" val="1295196492"/>
                    </a:ext>
                  </a:extLst>
                </a:gridCol>
                <a:gridCol w="1642537">
                  <a:extLst>
                    <a:ext uri="{9D8B030D-6E8A-4147-A177-3AD203B41FA5}">
                      <a16:colId xmlns:a16="http://schemas.microsoft.com/office/drawing/2014/main" val="1509709905"/>
                    </a:ext>
                  </a:extLst>
                </a:gridCol>
                <a:gridCol w="1156716">
                  <a:extLst>
                    <a:ext uri="{9D8B030D-6E8A-4147-A177-3AD203B41FA5}">
                      <a16:colId xmlns:a16="http://schemas.microsoft.com/office/drawing/2014/main" val="2300865621"/>
                    </a:ext>
                  </a:extLst>
                </a:gridCol>
                <a:gridCol w="1270284">
                  <a:extLst>
                    <a:ext uri="{9D8B030D-6E8A-4147-A177-3AD203B41FA5}">
                      <a16:colId xmlns:a16="http://schemas.microsoft.com/office/drawing/2014/main" val="4238283540"/>
                    </a:ext>
                  </a:extLst>
                </a:gridCol>
                <a:gridCol w="841248">
                  <a:extLst>
                    <a:ext uri="{9D8B030D-6E8A-4147-A177-3AD203B41FA5}">
                      <a16:colId xmlns:a16="http://schemas.microsoft.com/office/drawing/2014/main" val="4256302077"/>
                    </a:ext>
                  </a:extLst>
                </a:gridCol>
                <a:gridCol w="942198">
                  <a:extLst>
                    <a:ext uri="{9D8B030D-6E8A-4147-A177-3AD203B41FA5}">
                      <a16:colId xmlns:a16="http://schemas.microsoft.com/office/drawing/2014/main" val="1256526838"/>
                    </a:ext>
                  </a:extLst>
                </a:gridCol>
                <a:gridCol w="942198">
                  <a:extLst>
                    <a:ext uri="{9D8B030D-6E8A-4147-A177-3AD203B41FA5}">
                      <a16:colId xmlns:a16="http://schemas.microsoft.com/office/drawing/2014/main" val="86788845"/>
                    </a:ext>
                  </a:extLst>
                </a:gridCol>
                <a:gridCol w="942198">
                  <a:extLst>
                    <a:ext uri="{9D8B030D-6E8A-4147-A177-3AD203B41FA5}">
                      <a16:colId xmlns:a16="http://schemas.microsoft.com/office/drawing/2014/main" val="3849476417"/>
                    </a:ext>
                  </a:extLst>
                </a:gridCol>
                <a:gridCol w="965332">
                  <a:extLst>
                    <a:ext uri="{9D8B030D-6E8A-4147-A177-3AD203B41FA5}">
                      <a16:colId xmlns:a16="http://schemas.microsoft.com/office/drawing/2014/main" val="1066176012"/>
                    </a:ext>
                  </a:extLst>
                </a:gridCol>
              </a:tblGrid>
              <a:tr h="237490">
                <a:tc>
                  <a:txBody>
                    <a:bodyPr/>
                    <a:lstStyle/>
                    <a:p>
                      <a:pPr indent="-82550" algn="ctr">
                        <a:lnSpc>
                          <a:spcPct val="107000"/>
                        </a:lnSpc>
                        <a:spcAft>
                          <a:spcPts val="800"/>
                        </a:spcAft>
                      </a:pPr>
                      <a:r>
                        <a:rPr lang="en-IN" sz="900">
                          <a:effectLst/>
                        </a:rPr>
                        <a:t>S No.</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135890" algn="just">
                        <a:lnSpc>
                          <a:spcPct val="107000"/>
                        </a:lnSpc>
                        <a:spcAft>
                          <a:spcPts val="800"/>
                        </a:spcAft>
                      </a:pPr>
                      <a:r>
                        <a:rPr lang="en-IN" sz="900">
                          <a:effectLst/>
                        </a:rPr>
                        <a:t>Direct Evaluation Instruments</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135890">
                        <a:lnSpc>
                          <a:spcPct val="107000"/>
                        </a:lnSpc>
                        <a:spcAft>
                          <a:spcPts val="800"/>
                        </a:spcAft>
                      </a:pPr>
                      <a:r>
                        <a:rPr lang="en-IN" sz="900">
                          <a:effectLst/>
                        </a:rPr>
                        <a:t>Weightage of actual conduct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Frequency of Task</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800"/>
                        </a:spcAft>
                      </a:pPr>
                      <a:r>
                        <a:rPr lang="en-IN" sz="900">
                          <a:effectLst/>
                        </a:rPr>
                        <a:t>Final Weightage in Internal Assessment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BT Levels</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CO Mapping</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Mapping with SIs (ABET)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Mapping with PIs</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Remarks</a:t>
                      </a:r>
                      <a:endParaRPr lang="en-IN" sz="1100">
                        <a:effectLst/>
                      </a:endParaRPr>
                    </a:p>
                    <a:p>
                      <a:pPr indent="-228600" algn="ctr">
                        <a:lnSpc>
                          <a:spcPct val="107000"/>
                        </a:lnSpc>
                        <a:spcAft>
                          <a:spcPts val="800"/>
                        </a:spcAft>
                      </a:pPr>
                      <a:r>
                        <a:rPr lang="en-IN" sz="900">
                          <a:effectLst/>
                        </a:rPr>
                        <a:t>(Graded/Non-Graded)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842072263"/>
                  </a:ext>
                </a:extLst>
              </a:tr>
              <a:tr h="167640">
                <a:tc>
                  <a:txBody>
                    <a:bodyPr/>
                    <a:lstStyle/>
                    <a:p>
                      <a:pPr indent="-82550" algn="ctr">
                        <a:lnSpc>
                          <a:spcPct val="107000"/>
                        </a:lnSpc>
                        <a:spcAft>
                          <a:spcPts val="800"/>
                        </a:spcAft>
                      </a:pPr>
                      <a:r>
                        <a:rPr lang="en-IN" sz="900">
                          <a:effectLst/>
                        </a:rPr>
                        <a:t>1</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800"/>
                        </a:spcAft>
                      </a:pPr>
                      <a:r>
                        <a:rPr lang="en-IN" sz="900">
                          <a:effectLst/>
                        </a:rPr>
                        <a:t>Unit wise Practical Evaluation</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15 marks</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3</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800"/>
                        </a:spcAft>
                      </a:pPr>
                      <a:r>
                        <a:rPr lang="en-IN" sz="900">
                          <a:effectLst/>
                        </a:rPr>
                        <a:t>45</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Medium</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1,2,3,4,5</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1a, 1b, 1c, 6a, 6b	</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SO1, SO6</a:t>
                      </a:r>
                      <a:endParaRPr lang="en-IN" sz="1100">
                        <a:effectLst/>
                      </a:endParaRPr>
                    </a:p>
                    <a:p>
                      <a:pPr algn="ctr">
                        <a:lnSpc>
                          <a:spcPct val="107000"/>
                        </a:lnSpc>
                        <a:spcAft>
                          <a:spcPts val="800"/>
                        </a:spcAft>
                      </a:pPr>
                      <a:r>
                        <a:rPr lang="en-IN" sz="900">
                          <a:effectLst/>
                        </a:rPr>
                        <a:t> </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077835009"/>
                  </a:ext>
                </a:extLst>
              </a:tr>
              <a:tr h="170180">
                <a:tc>
                  <a:txBody>
                    <a:bodyPr/>
                    <a:lstStyle/>
                    <a:p>
                      <a:pPr indent="-82550" algn="ctr">
                        <a:lnSpc>
                          <a:spcPct val="107000"/>
                        </a:lnSpc>
                        <a:spcAft>
                          <a:spcPts val="800"/>
                        </a:spcAft>
                      </a:pPr>
                      <a:r>
                        <a:rPr lang="en-IN" sz="900">
                          <a:effectLst/>
                        </a:rPr>
                        <a:t>2</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800"/>
                        </a:spcAft>
                      </a:pPr>
                      <a:r>
                        <a:rPr lang="en-IN" sz="900">
                          <a:effectLst/>
                        </a:rPr>
                        <a:t>Exam</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15 marks for one MST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1 per semester</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800"/>
                        </a:spcAft>
                      </a:pPr>
                      <a:r>
                        <a:rPr lang="en-IN" sz="900">
                          <a:effectLst/>
                        </a:rPr>
                        <a:t>15</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Medium</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1,2,3</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1a, 1b, 1c, 6a, 6b	</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SO1, SO6</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222608477"/>
                  </a:ext>
                </a:extLst>
              </a:tr>
              <a:tr h="86360">
                <a:tc>
                  <a:txBody>
                    <a:bodyPr/>
                    <a:lstStyle/>
                    <a:p>
                      <a:pPr indent="-82550" algn="ctr">
                        <a:lnSpc>
                          <a:spcPct val="107000"/>
                        </a:lnSpc>
                        <a:spcAft>
                          <a:spcPts val="800"/>
                        </a:spcAft>
                      </a:pPr>
                      <a:r>
                        <a:rPr lang="en-IN" sz="900">
                          <a:effectLst/>
                        </a:rPr>
                        <a:t>3</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800"/>
                        </a:spcAft>
                      </a:pPr>
                      <a:r>
                        <a:rPr lang="en-IN" sz="900">
                          <a:effectLst/>
                        </a:rPr>
                        <a:t>Attendance</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800"/>
                        </a:spcAft>
                      </a:pPr>
                      <a:r>
                        <a:rPr lang="en-IN" sz="900">
                          <a:effectLst/>
                        </a:rPr>
                        <a:t>2</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800"/>
                        </a:spcAft>
                      </a:pPr>
                      <a:r>
                        <a:rPr lang="en-IN" sz="900" dirty="0">
                          <a:effectLst/>
                        </a:rPr>
                        <a:t>Graded</a:t>
                      </a:r>
                      <a:endParaRPr lang="en-IN" sz="11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4125190142"/>
                  </a:ext>
                </a:extLst>
              </a:tr>
            </a:tbl>
          </a:graphicData>
        </a:graphic>
      </p:graphicFrame>
      <p:graphicFrame>
        <p:nvGraphicFramePr>
          <p:cNvPr id="8" name="Table 7"/>
          <p:cNvGraphicFramePr>
            <a:graphicFrameLocks noGrp="1"/>
          </p:cNvGraphicFramePr>
          <p:nvPr>
            <p:extLst/>
          </p:nvPr>
        </p:nvGraphicFramePr>
        <p:xfrm>
          <a:off x="871729" y="1573545"/>
          <a:ext cx="10482073" cy="3468720"/>
        </p:xfrm>
        <a:graphic>
          <a:graphicData uri="http://schemas.openxmlformats.org/drawingml/2006/table">
            <a:tbl>
              <a:tblPr bandRow="1">
                <a:tableStyleId>{5C22544A-7EE6-4342-B048-85BDC9FD1C3A}</a:tableStyleId>
              </a:tblPr>
              <a:tblGrid>
                <a:gridCol w="528133">
                  <a:extLst>
                    <a:ext uri="{9D8B030D-6E8A-4147-A177-3AD203B41FA5}">
                      <a16:colId xmlns:a16="http://schemas.microsoft.com/office/drawing/2014/main" val="1362900736"/>
                    </a:ext>
                  </a:extLst>
                </a:gridCol>
                <a:gridCol w="1110313">
                  <a:extLst>
                    <a:ext uri="{9D8B030D-6E8A-4147-A177-3AD203B41FA5}">
                      <a16:colId xmlns:a16="http://schemas.microsoft.com/office/drawing/2014/main" val="4124538200"/>
                    </a:ext>
                  </a:extLst>
                </a:gridCol>
                <a:gridCol w="1249695">
                  <a:extLst>
                    <a:ext uri="{9D8B030D-6E8A-4147-A177-3AD203B41FA5}">
                      <a16:colId xmlns:a16="http://schemas.microsoft.com/office/drawing/2014/main" val="3804173475"/>
                    </a:ext>
                  </a:extLst>
                </a:gridCol>
                <a:gridCol w="983258">
                  <a:extLst>
                    <a:ext uri="{9D8B030D-6E8A-4147-A177-3AD203B41FA5}">
                      <a16:colId xmlns:a16="http://schemas.microsoft.com/office/drawing/2014/main" val="3347002943"/>
                    </a:ext>
                  </a:extLst>
                </a:gridCol>
                <a:gridCol w="1122639">
                  <a:extLst>
                    <a:ext uri="{9D8B030D-6E8A-4147-A177-3AD203B41FA5}">
                      <a16:colId xmlns:a16="http://schemas.microsoft.com/office/drawing/2014/main" val="2598335829"/>
                    </a:ext>
                  </a:extLst>
                </a:gridCol>
                <a:gridCol w="895077">
                  <a:extLst>
                    <a:ext uri="{9D8B030D-6E8A-4147-A177-3AD203B41FA5}">
                      <a16:colId xmlns:a16="http://schemas.microsoft.com/office/drawing/2014/main" val="1607328311"/>
                    </a:ext>
                  </a:extLst>
                </a:gridCol>
                <a:gridCol w="1046785">
                  <a:extLst>
                    <a:ext uri="{9D8B030D-6E8A-4147-A177-3AD203B41FA5}">
                      <a16:colId xmlns:a16="http://schemas.microsoft.com/office/drawing/2014/main" val="1028834886"/>
                    </a:ext>
                  </a:extLst>
                </a:gridCol>
                <a:gridCol w="1186166">
                  <a:extLst>
                    <a:ext uri="{9D8B030D-6E8A-4147-A177-3AD203B41FA5}">
                      <a16:colId xmlns:a16="http://schemas.microsoft.com/office/drawing/2014/main" val="2278529191"/>
                    </a:ext>
                  </a:extLst>
                </a:gridCol>
                <a:gridCol w="1186166">
                  <a:extLst>
                    <a:ext uri="{9D8B030D-6E8A-4147-A177-3AD203B41FA5}">
                      <a16:colId xmlns:a16="http://schemas.microsoft.com/office/drawing/2014/main" val="3777951174"/>
                    </a:ext>
                  </a:extLst>
                </a:gridCol>
                <a:gridCol w="1173841">
                  <a:extLst>
                    <a:ext uri="{9D8B030D-6E8A-4147-A177-3AD203B41FA5}">
                      <a16:colId xmlns:a16="http://schemas.microsoft.com/office/drawing/2014/main" val="869423944"/>
                    </a:ext>
                  </a:extLst>
                </a:gridCol>
              </a:tblGrid>
              <a:tr h="865990">
                <a:tc>
                  <a:txBody>
                    <a:bodyPr/>
                    <a:lstStyle/>
                    <a:p>
                      <a:pPr indent="-82550" algn="ctr">
                        <a:lnSpc>
                          <a:spcPct val="107000"/>
                        </a:lnSpc>
                        <a:spcAft>
                          <a:spcPts val="0"/>
                        </a:spcAft>
                      </a:pPr>
                      <a:r>
                        <a:rPr lang="en-IN" sz="900">
                          <a:effectLst/>
                        </a:rPr>
                        <a:t>Sl No.</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135890" algn="just">
                        <a:lnSpc>
                          <a:spcPct val="107000"/>
                        </a:lnSpc>
                        <a:spcAft>
                          <a:spcPts val="0"/>
                        </a:spcAft>
                      </a:pPr>
                      <a:r>
                        <a:rPr lang="en-IN" sz="900">
                          <a:effectLst/>
                        </a:rPr>
                        <a:t>Direct Evaluation Instruments</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135890">
                        <a:lnSpc>
                          <a:spcPct val="107000"/>
                        </a:lnSpc>
                        <a:spcAft>
                          <a:spcPts val="0"/>
                        </a:spcAft>
                      </a:pPr>
                      <a:r>
                        <a:rPr lang="en-IN" sz="900">
                          <a:effectLst/>
                        </a:rPr>
                        <a:t>Weightage of actual conduct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Frequency of Task</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0"/>
                        </a:spcAft>
                      </a:pPr>
                      <a:r>
                        <a:rPr lang="en-IN" sz="900">
                          <a:effectLst/>
                        </a:rPr>
                        <a:t>Final Weightage in Internal Assessment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BT Levels</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CO Mapping</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Mapping with SIs (ABET)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Mapping with PIs</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Remarks</a:t>
                      </a:r>
                      <a:endParaRPr lang="en-IN" sz="1100">
                        <a:effectLst/>
                      </a:endParaRPr>
                    </a:p>
                    <a:p>
                      <a:pPr indent="-228600" algn="ctr">
                        <a:lnSpc>
                          <a:spcPct val="107000"/>
                        </a:lnSpc>
                        <a:spcAft>
                          <a:spcPts val="0"/>
                        </a:spcAft>
                      </a:pPr>
                      <a:r>
                        <a:rPr lang="en-IN" sz="900">
                          <a:effectLst/>
                        </a:rPr>
                        <a:t>(Graded/Non-Graded)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700814295"/>
                  </a:ext>
                </a:extLst>
              </a:tr>
              <a:tr h="516508">
                <a:tc>
                  <a:txBody>
                    <a:bodyPr/>
                    <a:lstStyle/>
                    <a:p>
                      <a:pPr indent="-82550" algn="ctr">
                        <a:lnSpc>
                          <a:spcPct val="107000"/>
                        </a:lnSpc>
                        <a:spcAft>
                          <a:spcPts val="0"/>
                        </a:spcAft>
                      </a:pPr>
                      <a:r>
                        <a:rPr lang="en-IN" sz="900">
                          <a:effectLst/>
                        </a:rPr>
                        <a:t>1</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0"/>
                        </a:spcAft>
                      </a:pPr>
                      <a:r>
                        <a:rPr lang="en-IN" sz="900">
                          <a:effectLst/>
                        </a:rPr>
                        <a:t>Assignment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10 marks for each assignment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One per unit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0"/>
                        </a:spcAft>
                      </a:pPr>
                      <a:r>
                        <a:rPr lang="en-IN" sz="900">
                          <a:effectLst/>
                        </a:rPr>
                        <a:t>10</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nSpc>
                          <a:spcPct val="107000"/>
                        </a:lnSpc>
                        <a:spcAft>
                          <a:spcPts val="0"/>
                        </a:spcAft>
                      </a:pPr>
                      <a:r>
                        <a:rPr lang="en-IN" sz="900">
                          <a:effectLst/>
                        </a:rPr>
                        <a:t>Hard</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CO4,CO5</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1000">
                          <a:effectLst/>
                        </a:rPr>
                        <a:t>SO1</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US" sz="1000">
                          <a:effectLst/>
                        </a:rPr>
                        <a:t>1a,1b,1c</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980787166"/>
                  </a:ext>
                </a:extLst>
              </a:tr>
              <a:tr h="341768">
                <a:tc>
                  <a:txBody>
                    <a:bodyPr/>
                    <a:lstStyle/>
                    <a:p>
                      <a:pPr indent="-82550" algn="ctr">
                        <a:lnSpc>
                          <a:spcPct val="107000"/>
                        </a:lnSpc>
                        <a:spcAft>
                          <a:spcPts val="0"/>
                        </a:spcAft>
                      </a:pPr>
                      <a:r>
                        <a:rPr lang="en-IN" sz="900">
                          <a:effectLst/>
                        </a:rPr>
                        <a:t>2</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0"/>
                        </a:spcAft>
                      </a:pPr>
                      <a:r>
                        <a:rPr lang="en-IN" sz="900">
                          <a:effectLst/>
                        </a:rPr>
                        <a:t>Exam</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20 marks for one MST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2 per semester</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0"/>
                        </a:spcAft>
                      </a:pPr>
                      <a:r>
                        <a:rPr lang="en-IN" sz="900">
                          <a:effectLst/>
                        </a:rPr>
                        <a:t>20</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Medium</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CO1,CO2,CO3,CO4</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1000">
                          <a:effectLst/>
                        </a:rPr>
                        <a:t>SO6</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US" sz="1000">
                          <a:effectLst/>
                        </a:rPr>
                        <a:t>6a,6b</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605075272"/>
                  </a:ext>
                </a:extLst>
              </a:tr>
              <a:tr h="202642">
                <a:tc>
                  <a:txBody>
                    <a:bodyPr/>
                    <a:lstStyle/>
                    <a:p>
                      <a:pPr indent="-82550" algn="ctr">
                        <a:lnSpc>
                          <a:spcPct val="107000"/>
                        </a:lnSpc>
                        <a:spcAft>
                          <a:spcPts val="0"/>
                        </a:spcAft>
                      </a:pPr>
                      <a:r>
                        <a:rPr lang="en-IN" sz="900">
                          <a:effectLst/>
                        </a:rPr>
                        <a:t>3</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0"/>
                        </a:spcAft>
                      </a:pPr>
                      <a:r>
                        <a:rPr lang="en-IN" sz="900">
                          <a:effectLst/>
                        </a:rPr>
                        <a:t>Case Study</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8 marks </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1 per unit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0"/>
                        </a:spcAft>
                      </a:pPr>
                      <a:r>
                        <a:rPr lang="en-IN" sz="900">
                          <a:effectLst/>
                        </a:rPr>
                        <a:t>8</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Easy</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CO2</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1000">
                          <a:effectLst/>
                        </a:rPr>
                        <a:t>SO1, SO6</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1000">
                          <a:effectLst/>
                        </a:rPr>
                        <a:t>1c,6b</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627491793"/>
                  </a:ext>
                </a:extLst>
              </a:tr>
              <a:tr h="691248">
                <a:tc>
                  <a:txBody>
                    <a:bodyPr/>
                    <a:lstStyle/>
                    <a:p>
                      <a:pPr indent="-82550" algn="ctr">
                        <a:lnSpc>
                          <a:spcPct val="107000"/>
                        </a:lnSpc>
                        <a:spcAft>
                          <a:spcPts val="0"/>
                        </a:spcAft>
                      </a:pPr>
                      <a:r>
                        <a:rPr lang="en-IN" sz="900">
                          <a:effectLst/>
                        </a:rPr>
                        <a:t>4</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0"/>
                        </a:spcAft>
                      </a:pPr>
                      <a:r>
                        <a:rPr lang="en-IN" sz="900">
                          <a:effectLst/>
                        </a:rPr>
                        <a:t>Homework</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One per lecture topic (of 2 questions)</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Non-Graded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062682037"/>
                  </a:ext>
                </a:extLst>
              </a:tr>
              <a:tr h="341768">
                <a:tc>
                  <a:txBody>
                    <a:bodyPr/>
                    <a:lstStyle/>
                    <a:p>
                      <a:pPr indent="-82550" algn="ctr">
                        <a:lnSpc>
                          <a:spcPct val="107000"/>
                        </a:lnSpc>
                        <a:spcAft>
                          <a:spcPts val="0"/>
                        </a:spcAft>
                      </a:pPr>
                      <a:r>
                        <a:rPr lang="en-IN" sz="900">
                          <a:effectLst/>
                        </a:rPr>
                        <a:t>5</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0"/>
                        </a:spcAft>
                      </a:pPr>
                      <a:r>
                        <a:rPr lang="en-IN" sz="900">
                          <a:effectLst/>
                        </a:rPr>
                        <a:t>Discussion Forum</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One per unit</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Non-Graded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106257219"/>
                  </a:ext>
                </a:extLst>
              </a:tr>
              <a:tr h="341768">
                <a:tc>
                  <a:txBody>
                    <a:bodyPr/>
                    <a:lstStyle/>
                    <a:p>
                      <a:pPr indent="-82550" algn="ctr">
                        <a:lnSpc>
                          <a:spcPct val="107000"/>
                        </a:lnSpc>
                        <a:spcAft>
                          <a:spcPts val="0"/>
                        </a:spcAft>
                      </a:pPr>
                      <a:r>
                        <a:rPr lang="en-IN" sz="900">
                          <a:effectLst/>
                        </a:rPr>
                        <a:t>6</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0"/>
                        </a:spcAft>
                      </a:pPr>
                      <a:r>
                        <a:rPr lang="en-IN" sz="900">
                          <a:effectLst/>
                        </a:rPr>
                        <a:t>Presentation</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Non-Graded</a:t>
                      </a:r>
                      <a:endParaRPr lang="en-IN"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94649635"/>
                  </a:ext>
                </a:extLst>
              </a:tr>
              <a:tr h="167028">
                <a:tc>
                  <a:txBody>
                    <a:bodyPr/>
                    <a:lstStyle/>
                    <a:p>
                      <a:pPr indent="-82550" algn="ctr">
                        <a:lnSpc>
                          <a:spcPct val="107000"/>
                        </a:lnSpc>
                        <a:spcAft>
                          <a:spcPts val="0"/>
                        </a:spcAft>
                      </a:pPr>
                      <a:r>
                        <a:rPr lang="en-IN" sz="900">
                          <a:effectLst/>
                        </a:rPr>
                        <a:t>7</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57150" algn="ctr">
                        <a:lnSpc>
                          <a:spcPct val="107000"/>
                        </a:lnSpc>
                        <a:spcAft>
                          <a:spcPts val="0"/>
                        </a:spcAft>
                      </a:pPr>
                      <a:r>
                        <a:rPr lang="en-IN" sz="900">
                          <a:effectLst/>
                        </a:rPr>
                        <a:t>Attendance</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marR="28575" algn="just">
                        <a:lnSpc>
                          <a:spcPct val="107000"/>
                        </a:lnSpc>
                        <a:spcAft>
                          <a:spcPts val="0"/>
                        </a:spcAft>
                      </a:pPr>
                      <a:r>
                        <a:rPr lang="en-IN" sz="900">
                          <a:effectLst/>
                        </a:rPr>
                        <a:t>2</a:t>
                      </a:r>
                      <a:endParaRPr lang="en-IN" sz="11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a:effectLst/>
                        </a:rPr>
                        <a:t>NA</a:t>
                      </a:r>
                      <a:endParaRPr lang="en-IN" sz="11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0"/>
                        </a:spcAft>
                      </a:pPr>
                      <a:r>
                        <a:rPr lang="en-IN" sz="900" dirty="0">
                          <a:effectLst/>
                        </a:rPr>
                        <a:t>Graded</a:t>
                      </a:r>
                      <a:endParaRPr lang="en-IN" sz="11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43389868"/>
                  </a:ext>
                </a:extLst>
              </a:tr>
            </a:tbl>
          </a:graphicData>
        </a:graphic>
      </p:graphicFrame>
    </p:spTree>
    <p:extLst>
      <p:ext uri="{BB962C8B-B14F-4D97-AF65-F5344CB8AC3E}">
        <p14:creationId xmlns:p14="http://schemas.microsoft.com/office/powerpoint/2010/main" val="9039714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86510F-874B-00E3-A58D-D59125CE3406}"/>
              </a:ext>
            </a:extLst>
          </p:cNvPr>
          <p:cNvSpPr>
            <a:spLocks noGrp="1"/>
          </p:cNvSpPr>
          <p:nvPr>
            <p:ph type="sldNum" sz="quarter" idx="12"/>
          </p:nvPr>
        </p:nvSpPr>
        <p:spPr/>
        <p:txBody>
          <a:bodyPr/>
          <a:lstStyle/>
          <a:p>
            <a:fld id="{BDCDBBEF-AA6C-4BA6-85B2-A17D7F280E38}" type="slidenum">
              <a:rPr lang="en-US" smtClean="0"/>
              <a:t>5</a:t>
            </a:fld>
            <a:endParaRPr lang="en-US"/>
          </a:p>
        </p:txBody>
      </p:sp>
      <p:sp>
        <p:nvSpPr>
          <p:cNvPr id="9" name="Rectangle 1">
            <a:extLst>
              <a:ext uri="{FF2B5EF4-FFF2-40B4-BE49-F238E27FC236}">
                <a16:creationId xmlns:a16="http://schemas.microsoft.com/office/drawing/2014/main" id="{FBAB53C2-6A20-EF92-66E9-BFBADE233B52}"/>
              </a:ext>
            </a:extLst>
          </p:cNvPr>
          <p:cNvSpPr>
            <a:spLocks noChangeArrowheads="1"/>
          </p:cNvSpPr>
          <p:nvPr/>
        </p:nvSpPr>
        <p:spPr bwMode="auto">
          <a:xfrm>
            <a:off x="828079" y="-399257"/>
            <a:ext cx="5717100" cy="240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79312" tIns="888720" rIns="228528" bIns="761760" numCol="1" anchor="ctr" anchorCtr="0" compatLnSpc="1">
            <a:prstTxWarp prst="textNoShape">
              <a:avLst/>
            </a:prstTxWarp>
            <a:spAutoFit/>
          </a:bodyPr>
          <a:lstStyle>
            <a:lvl1pPr eaLnBrk="0" fontAlgn="base" hangingPunct="0">
              <a:spcBef>
                <a:spcPct val="0"/>
              </a:spcBef>
              <a:spcAft>
                <a:spcPct val="0"/>
              </a:spcAft>
              <a:tabLst>
                <a:tab pos="695325" algn="l"/>
              </a:tabLst>
              <a:defRPr>
                <a:solidFill>
                  <a:schemeClr val="tx1"/>
                </a:solidFill>
                <a:latin typeface="Arial" panose="020B0604020202020204" pitchFamily="34" charset="0"/>
              </a:defRPr>
            </a:lvl1pPr>
            <a:lvl2pPr eaLnBrk="0" fontAlgn="base" hangingPunct="0">
              <a:spcBef>
                <a:spcPct val="0"/>
              </a:spcBef>
              <a:spcAft>
                <a:spcPct val="0"/>
              </a:spcAft>
              <a:tabLst>
                <a:tab pos="695325" algn="l"/>
              </a:tabLst>
              <a:defRPr>
                <a:solidFill>
                  <a:schemeClr val="tx1"/>
                </a:solidFill>
                <a:latin typeface="Arial" panose="020B0604020202020204" pitchFamily="34" charset="0"/>
              </a:defRPr>
            </a:lvl2pPr>
            <a:lvl3pPr eaLnBrk="0" fontAlgn="base" hangingPunct="0">
              <a:spcBef>
                <a:spcPct val="0"/>
              </a:spcBef>
              <a:spcAft>
                <a:spcPct val="0"/>
              </a:spcAft>
              <a:tabLst>
                <a:tab pos="695325" algn="l"/>
              </a:tabLst>
              <a:defRPr>
                <a:solidFill>
                  <a:schemeClr val="tx1"/>
                </a:solidFill>
                <a:latin typeface="Arial" panose="020B0604020202020204" pitchFamily="34" charset="0"/>
              </a:defRPr>
            </a:lvl3pPr>
            <a:lvl4pPr eaLnBrk="0" fontAlgn="base" hangingPunct="0">
              <a:spcBef>
                <a:spcPct val="0"/>
              </a:spcBef>
              <a:spcAft>
                <a:spcPct val="0"/>
              </a:spcAft>
              <a:tabLst>
                <a:tab pos="695325" algn="l"/>
              </a:tabLst>
              <a:defRPr>
                <a:solidFill>
                  <a:schemeClr val="tx1"/>
                </a:solidFill>
                <a:latin typeface="Arial" panose="020B0604020202020204" pitchFamily="34" charset="0"/>
              </a:defRPr>
            </a:lvl4pPr>
            <a:lvl5pPr eaLnBrk="0" fontAlgn="base" hangingPunct="0">
              <a:spcBef>
                <a:spcPct val="0"/>
              </a:spcBef>
              <a:spcAft>
                <a:spcPct val="0"/>
              </a:spcAft>
              <a:tabLst>
                <a:tab pos="695325" algn="l"/>
              </a:tabLst>
              <a:defRPr>
                <a:solidFill>
                  <a:schemeClr val="tx1"/>
                </a:solidFill>
                <a:latin typeface="Arial" panose="020B0604020202020204" pitchFamily="34" charset="0"/>
              </a:defRPr>
            </a:lvl5pPr>
            <a:lvl6pPr eaLnBrk="0" fontAlgn="base" hangingPunct="0">
              <a:spcBef>
                <a:spcPct val="0"/>
              </a:spcBef>
              <a:spcAft>
                <a:spcPct val="0"/>
              </a:spcAft>
              <a:tabLst>
                <a:tab pos="695325" algn="l"/>
              </a:tabLst>
              <a:defRPr>
                <a:solidFill>
                  <a:schemeClr val="tx1"/>
                </a:solidFill>
                <a:latin typeface="Arial" panose="020B0604020202020204" pitchFamily="34" charset="0"/>
              </a:defRPr>
            </a:lvl6pPr>
            <a:lvl7pPr eaLnBrk="0" fontAlgn="base" hangingPunct="0">
              <a:spcBef>
                <a:spcPct val="0"/>
              </a:spcBef>
              <a:spcAft>
                <a:spcPct val="0"/>
              </a:spcAft>
              <a:tabLst>
                <a:tab pos="695325" algn="l"/>
              </a:tabLst>
              <a:defRPr>
                <a:solidFill>
                  <a:schemeClr val="tx1"/>
                </a:solidFill>
                <a:latin typeface="Arial" panose="020B0604020202020204" pitchFamily="34" charset="0"/>
              </a:defRPr>
            </a:lvl7pPr>
            <a:lvl8pPr eaLnBrk="0" fontAlgn="base" hangingPunct="0">
              <a:spcBef>
                <a:spcPct val="0"/>
              </a:spcBef>
              <a:spcAft>
                <a:spcPct val="0"/>
              </a:spcAft>
              <a:tabLst>
                <a:tab pos="695325" algn="l"/>
              </a:tabLst>
              <a:defRPr>
                <a:solidFill>
                  <a:schemeClr val="tx1"/>
                </a:solidFill>
                <a:latin typeface="Arial" panose="020B0604020202020204" pitchFamily="34" charset="0"/>
              </a:defRPr>
            </a:lvl8pPr>
            <a:lvl9pPr eaLnBrk="0" fontAlgn="base" hangingPunct="0">
              <a:spcBef>
                <a:spcPct val="0"/>
              </a:spcBef>
              <a:spcAft>
                <a:spcPct val="0"/>
              </a:spcAft>
              <a:tabLst>
                <a:tab pos="6953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695325" algn="l"/>
              </a:tabLst>
            </a:pPr>
            <a:r>
              <a:rPr kumimoji="0" lang="en-US" altLang="en-US" sz="3200" b="1" i="0" u="none" strike="noStrike" cap="none" normalizeH="0" baseline="0" dirty="0" smtClean="0">
                <a:ln>
                  <a:noFill/>
                </a:ln>
                <a:solidFill>
                  <a:schemeClr val="tx1"/>
                </a:solidFill>
                <a:effectLst/>
                <a:latin typeface="Times New Roman" panose="02020603050405020304" pitchFamily="18" charset="0"/>
                <a:ea typeface="Verdana" panose="020B0604030504040204" pitchFamily="34" charset="0"/>
                <a:cs typeface="Times New Roman" panose="02020603050405020304" pitchFamily="18" charset="0"/>
              </a:rPr>
              <a:t>A</a:t>
            </a:r>
            <a:r>
              <a:rPr kumimoji="0" lang="en-US" altLang="en-US" sz="3200" b="1" i="0" u="none" strike="noStrike" cap="none" normalizeH="0" baseline="0" dirty="0" smtClean="0" bmk="">
                <a:ln>
                  <a:noFill/>
                </a:ln>
                <a:solidFill>
                  <a:schemeClr val="tx1"/>
                </a:solidFill>
                <a:effectLst/>
                <a:latin typeface="Times New Roman" panose="02020603050405020304" pitchFamily="18" charset="0"/>
                <a:ea typeface="Verdana" panose="020B0604030504040204" pitchFamily="34" charset="0"/>
                <a:cs typeface="Times New Roman" panose="02020603050405020304" pitchFamily="18" charset="0"/>
              </a:rPr>
              <a:t>SSESSMENT PATTERN</a:t>
            </a:r>
            <a:endParaRPr kumimoji="0" lang="en-US" altLang="en-US" sz="3200" b="0" i="0" u="none" strike="noStrike" cap="none" normalizeH="0" baseline="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95325" algn="l"/>
              </a:tabLst>
            </a:pPr>
            <a:r>
              <a:rPr kumimoji="0" lang="en-US" altLang="en-US" sz="1600" b="0" i="0" u="none" strike="noStrike" cap="none" normalizeH="0" baseline="0" dirty="0" smtClean="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a:t>
            </a:r>
            <a:r>
              <a:rPr kumimoji="0" lang="en-US" altLang="en-US" sz="1600" b="0" i="0" u="none" strike="noStrike" cap="none" normalizeH="0" baseline="0" dirty="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performance of students is evaluated as follows</a:t>
            </a:r>
            <a:r>
              <a:rPr kumimoji="0" lang="en-US" altLang="en-US" sz="1600" b="0" i="0" u="none" strike="noStrike" cap="none" normalizeH="0" baseline="0" dirty="0" smtClean="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sz="1200" b="0" i="0" u="none" strike="noStrike" cap="none" normalizeH="0" baseline="0" dirty="0" bmk="">
              <a:ln>
                <a:noFill/>
              </a:ln>
              <a:solidFill>
                <a:schemeClr val="tx1"/>
              </a:solidFill>
              <a:effectLst/>
            </a:endParaRPr>
          </a:p>
        </p:txBody>
      </p:sp>
      <p:graphicFrame>
        <p:nvGraphicFramePr>
          <p:cNvPr id="10" name="Table 9">
            <a:extLst>
              <a:ext uri="{FF2B5EF4-FFF2-40B4-BE49-F238E27FC236}">
                <a16:creationId xmlns:a16="http://schemas.microsoft.com/office/drawing/2014/main" id="{8E813284-3E5F-1394-B3EC-D2587E9C89CF}"/>
              </a:ext>
            </a:extLst>
          </p:cNvPr>
          <p:cNvGraphicFramePr>
            <a:graphicFrameLocks noGrp="1"/>
          </p:cNvGraphicFramePr>
          <p:nvPr>
            <p:extLst/>
          </p:nvPr>
        </p:nvGraphicFramePr>
        <p:xfrm>
          <a:off x="1685109" y="1565492"/>
          <a:ext cx="7461067" cy="1041482"/>
        </p:xfrm>
        <a:graphic>
          <a:graphicData uri="http://schemas.openxmlformats.org/drawingml/2006/table">
            <a:tbl>
              <a:tblPr firstRow="1" firstCol="1" lastRow="1" lastCol="1" bandRow="1" bandCol="1"/>
              <a:tblGrid>
                <a:gridCol w="1273034">
                  <a:extLst>
                    <a:ext uri="{9D8B030D-6E8A-4147-A177-3AD203B41FA5}">
                      <a16:colId xmlns:a16="http://schemas.microsoft.com/office/drawing/2014/main" val="1279282291"/>
                    </a:ext>
                  </a:extLst>
                </a:gridCol>
                <a:gridCol w="1664545">
                  <a:extLst>
                    <a:ext uri="{9D8B030D-6E8A-4147-A177-3AD203B41FA5}">
                      <a16:colId xmlns:a16="http://schemas.microsoft.com/office/drawing/2014/main" val="1317047220"/>
                    </a:ext>
                  </a:extLst>
                </a:gridCol>
                <a:gridCol w="1695997">
                  <a:extLst>
                    <a:ext uri="{9D8B030D-6E8A-4147-A177-3AD203B41FA5}">
                      <a16:colId xmlns:a16="http://schemas.microsoft.com/office/drawing/2014/main" val="1534157159"/>
                    </a:ext>
                  </a:extLst>
                </a:gridCol>
                <a:gridCol w="1469203">
                  <a:extLst>
                    <a:ext uri="{9D8B030D-6E8A-4147-A177-3AD203B41FA5}">
                      <a16:colId xmlns:a16="http://schemas.microsoft.com/office/drawing/2014/main" val="1471745708"/>
                    </a:ext>
                  </a:extLst>
                </a:gridCol>
                <a:gridCol w="1358288">
                  <a:extLst>
                    <a:ext uri="{9D8B030D-6E8A-4147-A177-3AD203B41FA5}">
                      <a16:colId xmlns:a16="http://schemas.microsoft.com/office/drawing/2014/main" val="1304499668"/>
                    </a:ext>
                  </a:extLst>
                </a:gridCol>
              </a:tblGrid>
              <a:tr h="175408">
                <a:tc>
                  <a:txBody>
                    <a:bodyPr/>
                    <a:lstStyle/>
                    <a:p>
                      <a:pPr algn="l"/>
                      <a:r>
                        <a:rPr lang="en-US" sz="105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R="45085" algn="ctr">
                        <a:lnSpc>
                          <a:spcPts val="1140"/>
                        </a:lnSpc>
                      </a:pPr>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Theory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gridSpan="2">
                  <a:txBody>
                    <a:bodyPr/>
                    <a:lstStyle/>
                    <a:p>
                      <a:pPr marR="43815" algn="ctr">
                        <a:lnSpc>
                          <a:spcPts val="1140"/>
                        </a:lnSpc>
                      </a:pPr>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Practical</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4187026910"/>
                  </a:ext>
                </a:extLst>
              </a:tr>
              <a:tr h="516158">
                <a:tc>
                  <a:txBody>
                    <a:bodyPr/>
                    <a:lstStyle/>
                    <a:p>
                      <a:pPr algn="l">
                        <a:spcBef>
                          <a:spcPts val="565"/>
                        </a:spcBef>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gn="l"/>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Components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191770" algn="l">
                        <a:spcBef>
                          <a:spcPts val="565"/>
                        </a:spcBef>
                        <a:spcAft>
                          <a:spcPts val="0"/>
                        </a:spcAft>
                      </a:pPr>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Continuous Internal </a:t>
                      </a: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Assessment</a:t>
                      </a:r>
                      <a:r>
                        <a:rPr lang="en-US" sz="1100" b="1" spc="-6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(CAE)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114935" algn="l">
                        <a:spcBef>
                          <a:spcPts val="1140"/>
                        </a:spcBef>
                        <a:spcAft>
                          <a:spcPts val="0"/>
                        </a:spcAft>
                        <a:tabLst>
                          <a:tab pos="951865" algn="l"/>
                        </a:tabLst>
                      </a:pP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Semester </a:t>
                      </a:r>
                      <a:r>
                        <a:rPr lang="en-US" sz="1100" b="1" spc="-20" dirty="0">
                          <a:effectLst/>
                          <a:latin typeface="Times New Roman" panose="02020603050405020304" pitchFamily="18" charset="0"/>
                          <a:ea typeface="Times New Roman" panose="02020603050405020304" pitchFamily="18" charset="0"/>
                          <a:cs typeface="Times New Roman" panose="02020603050405020304" pitchFamily="18" charset="0"/>
                        </a:rPr>
                        <a:t>End </a:t>
                      </a:r>
                      <a:r>
                        <a:rPr lang="en-US" sz="1100" b="1" dirty="0">
                          <a:effectLst/>
                          <a:latin typeface="Times New Roman" panose="02020603050405020304" pitchFamily="18" charset="0"/>
                          <a:ea typeface="Times New Roman" panose="02020603050405020304" pitchFamily="18" charset="0"/>
                          <a:cs typeface="Times New Roman" panose="02020603050405020304" pitchFamily="18" charset="0"/>
                        </a:rPr>
                        <a:t>Examination (SEE)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215" marR="109220" algn="l">
                        <a:spcAft>
                          <a:spcPts val="0"/>
                        </a:spcAft>
                      </a:pP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Continuous Internal Assessment (CAE)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0485" marR="114300" algn="l">
                        <a:spcBef>
                          <a:spcPts val="565"/>
                        </a:spcBef>
                        <a:spcAft>
                          <a:spcPts val="0"/>
                        </a:spcAft>
                        <a:tabLst>
                          <a:tab pos="694690" algn="l"/>
                        </a:tabLst>
                      </a:pP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Semester </a:t>
                      </a:r>
                      <a:r>
                        <a:rPr lang="en-US" sz="1100" b="1" spc="-20" dirty="0">
                          <a:effectLst/>
                          <a:latin typeface="Times New Roman" panose="02020603050405020304" pitchFamily="18" charset="0"/>
                          <a:ea typeface="Times New Roman" panose="02020603050405020304" pitchFamily="18" charset="0"/>
                          <a:cs typeface="Times New Roman" panose="02020603050405020304" pitchFamily="18" charset="0"/>
                        </a:rPr>
                        <a:t>End </a:t>
                      </a: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Examination (SEE)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9405638"/>
                  </a:ext>
                </a:extLst>
              </a:tr>
              <a:tr h="175408">
                <a:tc>
                  <a:txBody>
                    <a:bodyPr/>
                    <a:lstStyle/>
                    <a:p>
                      <a:pPr marL="67945" algn="l">
                        <a:lnSpc>
                          <a:spcPts val="1140"/>
                        </a:lnSpc>
                      </a:pP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Marks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2545" algn="ctr">
                        <a:lnSpc>
                          <a:spcPts val="1115"/>
                        </a:lnSpc>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40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2545" algn="ctr">
                        <a:lnSpc>
                          <a:spcPts val="1115"/>
                        </a:lnSpc>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0640" algn="ctr">
                        <a:lnSpc>
                          <a:spcPts val="1115"/>
                        </a:lnSpc>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1910" algn="ctr">
                        <a:lnSpc>
                          <a:spcPts val="1115"/>
                        </a:lnSpc>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40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0311873"/>
                  </a:ext>
                </a:extLst>
              </a:tr>
              <a:tr h="174508">
                <a:tc>
                  <a:txBody>
                    <a:bodyPr/>
                    <a:lstStyle/>
                    <a:p>
                      <a:pPr marL="67945" algn="l">
                        <a:lnSpc>
                          <a:spcPts val="1140"/>
                        </a:lnSpc>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Total</a:t>
                      </a:r>
                      <a:r>
                        <a:rPr lang="en-US" sz="1100" b="1" spc="-3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Marks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2540" marR="45085" algn="ctr">
                        <a:lnSpc>
                          <a:spcPts val="1115"/>
                        </a:lnSpc>
                        <a:spcAft>
                          <a:spcPts val="0"/>
                        </a:spcAft>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gridSpan="2">
                  <a:txBody>
                    <a:bodyPr/>
                    <a:lstStyle/>
                    <a:p>
                      <a:pPr marL="635" marR="43815" algn="ctr">
                        <a:lnSpc>
                          <a:spcPts val="1115"/>
                        </a:lnSpc>
                        <a:spcAft>
                          <a:spcPts val="0"/>
                        </a:spcAft>
                      </a:pPr>
                      <a:r>
                        <a:rPr lang="en-US" sz="1100" spc="-25" dirty="0">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919059657"/>
                  </a:ext>
                </a:extLst>
              </a:tr>
            </a:tbl>
          </a:graphicData>
        </a:graphic>
      </p:graphicFrame>
      <p:pic>
        <p:nvPicPr>
          <p:cNvPr id="7" name="Picture 6"/>
          <p:cNvPicPr>
            <a:picLocks noChangeAspect="1"/>
          </p:cNvPicPr>
          <p:nvPr/>
        </p:nvPicPr>
        <p:blipFill>
          <a:blip r:embed="rId2"/>
          <a:stretch>
            <a:fillRect/>
          </a:stretch>
        </p:blipFill>
        <p:spPr>
          <a:xfrm>
            <a:off x="1854927" y="2656614"/>
            <a:ext cx="7081034" cy="4114501"/>
          </a:xfrm>
          <a:prstGeom prst="rect">
            <a:avLst/>
          </a:prstGeom>
        </p:spPr>
      </p:pic>
    </p:spTree>
    <p:extLst>
      <p:ext uri="{BB962C8B-B14F-4D97-AF65-F5344CB8AC3E}">
        <p14:creationId xmlns:p14="http://schemas.microsoft.com/office/powerpoint/2010/main" val="50058734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2"/>
          <p:cNvSpPr>
            <a:spLocks noGrp="1"/>
          </p:cNvSpPr>
          <p:nvPr>
            <p:ph type="ftr"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r>
              <a:rPr lang="en-US" dirty="0" smtClean="0"/>
              <a:t>   </a:t>
            </a:r>
          </a:p>
        </p:txBody>
      </p:sp>
      <p:sp>
        <p:nvSpPr>
          <p:cNvPr id="48130" name="Rectangle 2"/>
          <p:cNvSpPr>
            <a:spLocks noGrp="1" noChangeArrowheads="1"/>
          </p:cNvSpPr>
          <p:nvPr>
            <p:ph type="title" idx="4294967295"/>
          </p:nvPr>
        </p:nvSpPr>
        <p:spPr>
          <a:xfrm>
            <a:off x="1524000" y="533400"/>
            <a:ext cx="8229600" cy="1143000"/>
          </a:xfrm>
          <a:prstGeom prst="rect">
            <a:avLst/>
          </a:prstGeom>
        </p:spPr>
        <p:txBody>
          <a:bodyPr/>
          <a:lstStyle/>
          <a:p>
            <a:pPr>
              <a:defRPr/>
            </a:pPr>
            <a:r>
              <a:rPr lang="en-US" dirty="0"/>
              <a:t> </a:t>
            </a:r>
            <a:r>
              <a:rPr lang="en-US" sz="4800" b="1" dirty="0">
                <a:latin typeface="Casper Bold"/>
              </a:rPr>
              <a:t>Queues</a:t>
            </a:r>
          </a:p>
        </p:txBody>
      </p:sp>
      <p:sp>
        <p:nvSpPr>
          <p:cNvPr id="24580" name="Rectangle 3"/>
          <p:cNvSpPr>
            <a:spLocks noGrp="1" noChangeArrowheads="1"/>
          </p:cNvSpPr>
          <p:nvPr>
            <p:ph type="body" idx="4294967295"/>
          </p:nvPr>
        </p:nvSpPr>
        <p:spPr>
          <a:xfrm>
            <a:off x="2362200" y="1600201"/>
            <a:ext cx="7391400" cy="4525963"/>
          </a:xfrm>
          <a:prstGeom prst="rect">
            <a:avLst/>
          </a:prstGeom>
        </p:spPr>
        <p:txBody>
          <a:bodyPr/>
          <a:lstStyle/>
          <a:p>
            <a:pPr eaLnBrk="1" hangingPunct="1"/>
            <a:r>
              <a:rPr lang="en-US" altLang="zh-TW" sz="1800" dirty="0"/>
              <a:t>Like a stack, a queue is also a list.  However, with a queue, insertion is done at one end, while deletion is performed at the other end.</a:t>
            </a:r>
          </a:p>
          <a:p>
            <a:pPr eaLnBrk="1" hangingPunct="1"/>
            <a:endParaRPr lang="en-US" altLang="zh-TW" sz="1800" dirty="0"/>
          </a:p>
          <a:p>
            <a:pPr eaLnBrk="1" hangingPunct="1">
              <a:buNone/>
            </a:pPr>
            <a:r>
              <a:rPr lang="en-US" sz="1800" dirty="0"/>
              <a:t>	   -- The insertion end is called rear</a:t>
            </a:r>
          </a:p>
          <a:p>
            <a:pPr eaLnBrk="1" hangingPunct="1">
              <a:buNone/>
            </a:pPr>
            <a:r>
              <a:rPr lang="en-US" sz="1800" dirty="0">
                <a:latin typeface="Cambria" pitchFamily="18" charset="0"/>
              </a:rPr>
              <a:t>	   --  The deletion end is called front</a:t>
            </a:r>
          </a:p>
        </p:txBody>
      </p:sp>
      <p:grpSp>
        <p:nvGrpSpPr>
          <p:cNvPr id="2" name="Group 19"/>
          <p:cNvGrpSpPr>
            <a:grpSpLocks/>
          </p:cNvGrpSpPr>
          <p:nvPr/>
        </p:nvGrpSpPr>
        <p:grpSpPr bwMode="auto">
          <a:xfrm>
            <a:off x="2300288" y="4441826"/>
            <a:ext cx="7893050" cy="1387475"/>
            <a:chOff x="480" y="3264"/>
            <a:chExt cx="4972" cy="874"/>
          </a:xfrm>
        </p:grpSpPr>
        <p:sp>
          <p:nvSpPr>
            <p:cNvPr id="24582" name="Rectangle 4"/>
            <p:cNvSpPr>
              <a:spLocks noChangeArrowheads="1"/>
            </p:cNvSpPr>
            <p:nvPr/>
          </p:nvSpPr>
          <p:spPr bwMode="auto">
            <a:xfrm>
              <a:off x="1536" y="3264"/>
              <a:ext cx="384" cy="384"/>
            </a:xfrm>
            <a:prstGeom prst="rect">
              <a:avLst/>
            </a:prstGeom>
            <a:solidFill>
              <a:schemeClr val="accent1"/>
            </a:solidFill>
            <a:ln w="28575">
              <a:solidFill>
                <a:schemeClr val="hlink"/>
              </a:solidFill>
              <a:miter lim="800000"/>
              <a:headEnd/>
              <a:tailEnd/>
            </a:ln>
          </p:spPr>
          <p:txBody>
            <a:bodyPr wrap="none" anchor="ctr"/>
            <a:lstStyle/>
            <a:p>
              <a:pPr eaLnBrk="0" hangingPunct="0"/>
              <a:endParaRPr lang="en-US"/>
            </a:p>
          </p:txBody>
        </p:sp>
        <p:sp>
          <p:nvSpPr>
            <p:cNvPr id="24583" name="Freeform 5"/>
            <p:cNvSpPr>
              <a:spLocks/>
            </p:cNvSpPr>
            <p:nvPr/>
          </p:nvSpPr>
          <p:spPr bwMode="auto">
            <a:xfrm>
              <a:off x="720" y="3456"/>
              <a:ext cx="816" cy="288"/>
            </a:xfrm>
            <a:custGeom>
              <a:avLst/>
              <a:gdLst>
                <a:gd name="T0" fmla="*/ 816 w 816"/>
                <a:gd name="T1" fmla="*/ 0 h 288"/>
                <a:gd name="T2" fmla="*/ 288 w 816"/>
                <a:gd name="T3" fmla="*/ 48 h 288"/>
                <a:gd name="T4" fmla="*/ 0 w 816"/>
                <a:gd name="T5" fmla="*/ 288 h 288"/>
                <a:gd name="T6" fmla="*/ 0 60000 65536"/>
                <a:gd name="T7" fmla="*/ 0 60000 65536"/>
                <a:gd name="T8" fmla="*/ 0 60000 65536"/>
                <a:gd name="T9" fmla="*/ 0 w 816"/>
                <a:gd name="T10" fmla="*/ 0 h 288"/>
                <a:gd name="T11" fmla="*/ 816 w 816"/>
                <a:gd name="T12" fmla="*/ 288 h 288"/>
              </a:gdLst>
              <a:ahLst/>
              <a:cxnLst>
                <a:cxn ang="T6">
                  <a:pos x="T0" y="T1"/>
                </a:cxn>
                <a:cxn ang="T7">
                  <a:pos x="T2" y="T3"/>
                </a:cxn>
                <a:cxn ang="T8">
                  <a:pos x="T4" y="T5"/>
                </a:cxn>
              </a:cxnLst>
              <a:rect l="T9" t="T10" r="T11" b="T12"/>
              <a:pathLst>
                <a:path w="816" h="288">
                  <a:moveTo>
                    <a:pt x="816" y="0"/>
                  </a:moveTo>
                  <a:cubicBezTo>
                    <a:pt x="620" y="0"/>
                    <a:pt x="424" y="0"/>
                    <a:pt x="288" y="48"/>
                  </a:cubicBezTo>
                  <a:cubicBezTo>
                    <a:pt x="152" y="96"/>
                    <a:pt x="56" y="216"/>
                    <a:pt x="0" y="288"/>
                  </a:cubicBezTo>
                </a:path>
              </a:pathLst>
            </a:custGeom>
            <a:noFill/>
            <a:ln w="31750">
              <a:solidFill>
                <a:schemeClr val="hlink"/>
              </a:solidFill>
              <a:round/>
              <a:headEnd type="none" w="sm" len="sm"/>
              <a:tailEnd type="triangle" w="med" len="med"/>
            </a:ln>
          </p:spPr>
          <p:txBody>
            <a:bodyPr/>
            <a:lstStyle/>
            <a:p>
              <a:endParaRPr lang="en-US"/>
            </a:p>
          </p:txBody>
        </p:sp>
        <p:sp>
          <p:nvSpPr>
            <p:cNvPr id="24584" name="Freeform 6"/>
            <p:cNvSpPr>
              <a:spLocks/>
            </p:cNvSpPr>
            <p:nvPr/>
          </p:nvSpPr>
          <p:spPr bwMode="auto">
            <a:xfrm>
              <a:off x="4252" y="3456"/>
              <a:ext cx="864" cy="288"/>
            </a:xfrm>
            <a:custGeom>
              <a:avLst/>
              <a:gdLst>
                <a:gd name="T0" fmla="*/ 864 w 864"/>
                <a:gd name="T1" fmla="*/ 288 h 288"/>
                <a:gd name="T2" fmla="*/ 624 w 864"/>
                <a:gd name="T3" fmla="*/ 96 h 288"/>
                <a:gd name="T4" fmla="*/ 0 w 864"/>
                <a:gd name="T5" fmla="*/ 0 h 288"/>
                <a:gd name="T6" fmla="*/ 0 60000 65536"/>
                <a:gd name="T7" fmla="*/ 0 60000 65536"/>
                <a:gd name="T8" fmla="*/ 0 60000 65536"/>
                <a:gd name="T9" fmla="*/ 0 w 864"/>
                <a:gd name="T10" fmla="*/ 0 h 288"/>
                <a:gd name="T11" fmla="*/ 864 w 864"/>
                <a:gd name="T12" fmla="*/ 288 h 288"/>
              </a:gdLst>
              <a:ahLst/>
              <a:cxnLst>
                <a:cxn ang="T6">
                  <a:pos x="T0" y="T1"/>
                </a:cxn>
                <a:cxn ang="T7">
                  <a:pos x="T2" y="T3"/>
                </a:cxn>
                <a:cxn ang="T8">
                  <a:pos x="T4" y="T5"/>
                </a:cxn>
              </a:cxnLst>
              <a:rect l="T9" t="T10" r="T11" b="T12"/>
              <a:pathLst>
                <a:path w="864" h="288">
                  <a:moveTo>
                    <a:pt x="864" y="288"/>
                  </a:moveTo>
                  <a:cubicBezTo>
                    <a:pt x="816" y="216"/>
                    <a:pt x="768" y="144"/>
                    <a:pt x="624" y="96"/>
                  </a:cubicBezTo>
                  <a:cubicBezTo>
                    <a:pt x="480" y="48"/>
                    <a:pt x="136" y="8"/>
                    <a:pt x="0" y="0"/>
                  </a:cubicBezTo>
                </a:path>
              </a:pathLst>
            </a:custGeom>
            <a:noFill/>
            <a:ln w="31750">
              <a:solidFill>
                <a:schemeClr val="hlink"/>
              </a:solidFill>
              <a:round/>
              <a:headEnd type="none" w="sm" len="sm"/>
              <a:tailEnd type="triangle" w="med" len="med"/>
            </a:ln>
          </p:spPr>
          <p:txBody>
            <a:bodyPr/>
            <a:lstStyle/>
            <a:p>
              <a:endParaRPr lang="en-US"/>
            </a:p>
          </p:txBody>
        </p:sp>
        <p:sp>
          <p:nvSpPr>
            <p:cNvPr id="24585" name="Rectangle 7"/>
            <p:cNvSpPr>
              <a:spLocks noChangeArrowheads="1"/>
            </p:cNvSpPr>
            <p:nvPr/>
          </p:nvSpPr>
          <p:spPr bwMode="auto">
            <a:xfrm>
              <a:off x="1920" y="3264"/>
              <a:ext cx="384" cy="384"/>
            </a:xfrm>
            <a:prstGeom prst="rect">
              <a:avLst/>
            </a:prstGeom>
            <a:solidFill>
              <a:schemeClr val="accent1"/>
            </a:solidFill>
            <a:ln w="28575">
              <a:solidFill>
                <a:schemeClr val="hlink"/>
              </a:solidFill>
              <a:miter lim="800000"/>
              <a:headEnd/>
              <a:tailEnd/>
            </a:ln>
          </p:spPr>
          <p:txBody>
            <a:bodyPr wrap="none" anchor="ctr"/>
            <a:lstStyle/>
            <a:p>
              <a:pPr eaLnBrk="0" hangingPunct="0"/>
              <a:endParaRPr lang="en-US"/>
            </a:p>
          </p:txBody>
        </p:sp>
        <p:sp>
          <p:nvSpPr>
            <p:cNvPr id="24586" name="Rectangle 8"/>
            <p:cNvSpPr>
              <a:spLocks noChangeArrowheads="1"/>
            </p:cNvSpPr>
            <p:nvPr/>
          </p:nvSpPr>
          <p:spPr bwMode="auto">
            <a:xfrm>
              <a:off x="2304" y="3264"/>
              <a:ext cx="384" cy="384"/>
            </a:xfrm>
            <a:prstGeom prst="rect">
              <a:avLst/>
            </a:prstGeom>
            <a:solidFill>
              <a:schemeClr val="accent1"/>
            </a:solidFill>
            <a:ln w="28575">
              <a:solidFill>
                <a:schemeClr val="hlink"/>
              </a:solidFill>
              <a:miter lim="800000"/>
              <a:headEnd/>
              <a:tailEnd/>
            </a:ln>
          </p:spPr>
          <p:txBody>
            <a:bodyPr wrap="none" anchor="ctr"/>
            <a:lstStyle/>
            <a:p>
              <a:pPr eaLnBrk="0" hangingPunct="0"/>
              <a:endParaRPr lang="en-US"/>
            </a:p>
          </p:txBody>
        </p:sp>
        <p:sp>
          <p:nvSpPr>
            <p:cNvPr id="24587" name="Rectangle 9"/>
            <p:cNvSpPr>
              <a:spLocks noChangeArrowheads="1"/>
            </p:cNvSpPr>
            <p:nvPr/>
          </p:nvSpPr>
          <p:spPr bwMode="auto">
            <a:xfrm>
              <a:off x="2688" y="3264"/>
              <a:ext cx="384" cy="384"/>
            </a:xfrm>
            <a:prstGeom prst="rect">
              <a:avLst/>
            </a:prstGeom>
            <a:solidFill>
              <a:schemeClr val="accent1"/>
            </a:solidFill>
            <a:ln w="28575">
              <a:solidFill>
                <a:schemeClr val="hlink"/>
              </a:solidFill>
              <a:miter lim="800000"/>
              <a:headEnd/>
              <a:tailEnd/>
            </a:ln>
          </p:spPr>
          <p:txBody>
            <a:bodyPr wrap="none" anchor="ctr"/>
            <a:lstStyle/>
            <a:p>
              <a:pPr eaLnBrk="0" hangingPunct="0"/>
              <a:endParaRPr lang="en-US"/>
            </a:p>
          </p:txBody>
        </p:sp>
        <p:sp>
          <p:nvSpPr>
            <p:cNvPr id="24588" name="Rectangle 10"/>
            <p:cNvSpPr>
              <a:spLocks noChangeArrowheads="1"/>
            </p:cNvSpPr>
            <p:nvPr/>
          </p:nvSpPr>
          <p:spPr bwMode="auto">
            <a:xfrm>
              <a:off x="3072" y="3264"/>
              <a:ext cx="384" cy="384"/>
            </a:xfrm>
            <a:prstGeom prst="rect">
              <a:avLst/>
            </a:prstGeom>
            <a:solidFill>
              <a:schemeClr val="accent1"/>
            </a:solidFill>
            <a:ln w="28575">
              <a:solidFill>
                <a:schemeClr val="hlink"/>
              </a:solidFill>
              <a:miter lim="800000"/>
              <a:headEnd/>
              <a:tailEnd/>
            </a:ln>
          </p:spPr>
          <p:txBody>
            <a:bodyPr wrap="none" anchor="ctr"/>
            <a:lstStyle/>
            <a:p>
              <a:pPr eaLnBrk="0" hangingPunct="0"/>
              <a:endParaRPr lang="en-US"/>
            </a:p>
          </p:txBody>
        </p:sp>
        <p:sp>
          <p:nvSpPr>
            <p:cNvPr id="24589" name="Rectangle 11"/>
            <p:cNvSpPr>
              <a:spLocks noChangeArrowheads="1"/>
            </p:cNvSpPr>
            <p:nvPr/>
          </p:nvSpPr>
          <p:spPr bwMode="auto">
            <a:xfrm>
              <a:off x="3456" y="3264"/>
              <a:ext cx="384" cy="384"/>
            </a:xfrm>
            <a:prstGeom prst="rect">
              <a:avLst/>
            </a:prstGeom>
            <a:solidFill>
              <a:schemeClr val="accent1"/>
            </a:solidFill>
            <a:ln w="28575">
              <a:solidFill>
                <a:schemeClr val="hlink"/>
              </a:solidFill>
              <a:miter lim="800000"/>
              <a:headEnd/>
              <a:tailEnd/>
            </a:ln>
          </p:spPr>
          <p:txBody>
            <a:bodyPr wrap="none" anchor="ctr"/>
            <a:lstStyle/>
            <a:p>
              <a:pPr eaLnBrk="0" hangingPunct="0"/>
              <a:endParaRPr lang="en-US"/>
            </a:p>
          </p:txBody>
        </p:sp>
        <p:sp>
          <p:nvSpPr>
            <p:cNvPr id="24590" name="Rectangle 12"/>
            <p:cNvSpPr>
              <a:spLocks noChangeArrowheads="1"/>
            </p:cNvSpPr>
            <p:nvPr/>
          </p:nvSpPr>
          <p:spPr bwMode="auto">
            <a:xfrm>
              <a:off x="3840" y="3264"/>
              <a:ext cx="384" cy="384"/>
            </a:xfrm>
            <a:prstGeom prst="rect">
              <a:avLst/>
            </a:prstGeom>
            <a:solidFill>
              <a:schemeClr val="accent1"/>
            </a:solidFill>
            <a:ln w="28575">
              <a:solidFill>
                <a:schemeClr val="hlink"/>
              </a:solidFill>
              <a:miter lim="800000"/>
              <a:headEnd/>
              <a:tailEnd/>
            </a:ln>
          </p:spPr>
          <p:txBody>
            <a:bodyPr wrap="none" anchor="ctr"/>
            <a:lstStyle/>
            <a:p>
              <a:pPr eaLnBrk="0" hangingPunct="0"/>
              <a:endParaRPr lang="en-US"/>
            </a:p>
          </p:txBody>
        </p:sp>
        <p:sp>
          <p:nvSpPr>
            <p:cNvPr id="24591" name="Text Box 13"/>
            <p:cNvSpPr txBox="1">
              <a:spLocks noChangeArrowheads="1"/>
            </p:cNvSpPr>
            <p:nvPr/>
          </p:nvSpPr>
          <p:spPr bwMode="auto">
            <a:xfrm>
              <a:off x="4444" y="3648"/>
              <a:ext cx="1008" cy="250"/>
            </a:xfrm>
            <a:prstGeom prst="rect">
              <a:avLst/>
            </a:prstGeom>
            <a:noFill/>
            <a:ln w="31750">
              <a:noFill/>
              <a:miter lim="800000"/>
              <a:headEnd type="none" w="sm" len="sm"/>
              <a:tailEnd type="none" w="sm" len="sm"/>
            </a:ln>
          </p:spPr>
          <p:txBody>
            <a:bodyPr>
              <a:spAutoFit/>
            </a:bodyPr>
            <a:lstStyle/>
            <a:p>
              <a:pPr eaLnBrk="0" hangingPunct="0">
                <a:spcBef>
                  <a:spcPct val="50000"/>
                </a:spcBef>
                <a:buClr>
                  <a:schemeClr val="tx2"/>
                </a:buClr>
                <a:buSzPct val="75000"/>
                <a:buFont typeface="Monotype Sorts" pitchFamily="2" charset="2"/>
                <a:buNone/>
              </a:pPr>
              <a:r>
                <a:rPr lang="en-US" altLang="zh-CN" sz="2000" b="1">
                  <a:ea typeface="宋体" pitchFamily="2" charset="-122"/>
                </a:rPr>
                <a:t>Insert</a:t>
              </a:r>
            </a:p>
          </p:txBody>
        </p:sp>
        <p:sp>
          <p:nvSpPr>
            <p:cNvPr id="24592" name="Text Box 14"/>
            <p:cNvSpPr txBox="1">
              <a:spLocks noChangeArrowheads="1"/>
            </p:cNvSpPr>
            <p:nvPr/>
          </p:nvSpPr>
          <p:spPr bwMode="auto">
            <a:xfrm>
              <a:off x="480" y="3696"/>
              <a:ext cx="1008" cy="442"/>
            </a:xfrm>
            <a:prstGeom prst="rect">
              <a:avLst/>
            </a:prstGeom>
            <a:noFill/>
            <a:ln w="31750">
              <a:noFill/>
              <a:miter lim="800000"/>
              <a:headEnd type="none" w="sm" len="sm"/>
              <a:tailEnd type="none" w="sm" len="sm"/>
            </a:ln>
          </p:spPr>
          <p:txBody>
            <a:bodyPr>
              <a:spAutoFit/>
            </a:bodyPr>
            <a:lstStyle/>
            <a:p>
              <a:pPr eaLnBrk="0" hangingPunct="0">
                <a:spcBef>
                  <a:spcPct val="50000"/>
                </a:spcBef>
                <a:buClr>
                  <a:schemeClr val="tx2"/>
                </a:buClr>
                <a:buSzPct val="75000"/>
                <a:buFont typeface="Monotype Sorts" pitchFamily="2" charset="2"/>
                <a:buNone/>
              </a:pPr>
              <a:r>
                <a:rPr lang="en-US" altLang="zh-CN" sz="2000" b="1">
                  <a:ea typeface="宋体" pitchFamily="2" charset="-122"/>
                </a:rPr>
                <a:t>Remove</a:t>
              </a:r>
              <a:br>
                <a:rPr lang="en-US" altLang="zh-CN" sz="2000" b="1">
                  <a:ea typeface="宋体" pitchFamily="2" charset="-122"/>
                </a:rPr>
              </a:br>
              <a:endParaRPr lang="en-US" altLang="zh-CN" sz="2000" b="1">
                <a:ea typeface="宋体" pitchFamily="2" charset="-122"/>
              </a:endParaRPr>
            </a:p>
          </p:txBody>
        </p:sp>
        <p:sp>
          <p:nvSpPr>
            <p:cNvPr id="24593" name="Text Box 15"/>
            <p:cNvSpPr txBox="1">
              <a:spLocks noChangeArrowheads="1"/>
            </p:cNvSpPr>
            <p:nvPr/>
          </p:nvSpPr>
          <p:spPr bwMode="auto">
            <a:xfrm>
              <a:off x="3820" y="3878"/>
              <a:ext cx="432" cy="250"/>
            </a:xfrm>
            <a:prstGeom prst="rect">
              <a:avLst/>
            </a:prstGeom>
            <a:noFill/>
            <a:ln w="31750">
              <a:noFill/>
              <a:miter lim="800000"/>
              <a:headEnd type="none" w="sm" len="sm"/>
              <a:tailEnd type="none" w="sm" len="sm"/>
            </a:ln>
          </p:spPr>
          <p:txBody>
            <a:bodyPr>
              <a:spAutoFit/>
            </a:bodyPr>
            <a:lstStyle/>
            <a:p>
              <a:pPr eaLnBrk="0" hangingPunct="0">
                <a:spcBef>
                  <a:spcPct val="50000"/>
                </a:spcBef>
                <a:buClr>
                  <a:schemeClr val="tx2"/>
                </a:buClr>
                <a:buSzPct val="75000"/>
                <a:buFont typeface="Monotype Sorts" pitchFamily="2" charset="2"/>
                <a:buNone/>
              </a:pPr>
              <a:r>
                <a:rPr lang="en-US" altLang="zh-CN" sz="2000" b="1">
                  <a:ea typeface="宋体" pitchFamily="2" charset="-122"/>
                </a:rPr>
                <a:t>rear</a:t>
              </a:r>
            </a:p>
          </p:txBody>
        </p:sp>
        <p:sp>
          <p:nvSpPr>
            <p:cNvPr id="24594" name="Text Box 16"/>
            <p:cNvSpPr txBox="1">
              <a:spLocks noChangeArrowheads="1"/>
            </p:cNvSpPr>
            <p:nvPr/>
          </p:nvSpPr>
          <p:spPr bwMode="auto">
            <a:xfrm>
              <a:off x="1488" y="3878"/>
              <a:ext cx="624" cy="250"/>
            </a:xfrm>
            <a:prstGeom prst="rect">
              <a:avLst/>
            </a:prstGeom>
            <a:noFill/>
            <a:ln w="31750">
              <a:noFill/>
              <a:miter lim="800000"/>
              <a:headEnd type="none" w="sm" len="sm"/>
              <a:tailEnd type="none" w="sm" len="sm"/>
            </a:ln>
          </p:spPr>
          <p:txBody>
            <a:bodyPr>
              <a:spAutoFit/>
            </a:bodyPr>
            <a:lstStyle/>
            <a:p>
              <a:pPr eaLnBrk="0" hangingPunct="0">
                <a:spcBef>
                  <a:spcPct val="50000"/>
                </a:spcBef>
                <a:buClr>
                  <a:schemeClr val="tx2"/>
                </a:buClr>
                <a:buSzPct val="75000"/>
                <a:buFont typeface="Monotype Sorts" pitchFamily="2" charset="2"/>
                <a:buNone/>
              </a:pPr>
              <a:r>
                <a:rPr lang="en-US" altLang="zh-CN" sz="2000" b="1">
                  <a:ea typeface="宋体" pitchFamily="2" charset="-122"/>
                </a:rPr>
                <a:t>front</a:t>
              </a:r>
            </a:p>
          </p:txBody>
        </p:sp>
        <p:sp>
          <p:nvSpPr>
            <p:cNvPr id="24595" name="Line 17"/>
            <p:cNvSpPr>
              <a:spLocks noChangeShapeType="1"/>
            </p:cNvSpPr>
            <p:nvPr/>
          </p:nvSpPr>
          <p:spPr bwMode="auto">
            <a:xfrm flipV="1">
              <a:off x="1728" y="3648"/>
              <a:ext cx="0" cy="288"/>
            </a:xfrm>
            <a:prstGeom prst="line">
              <a:avLst/>
            </a:prstGeom>
            <a:noFill/>
            <a:ln w="31750">
              <a:solidFill>
                <a:schemeClr val="hlink"/>
              </a:solidFill>
              <a:round/>
              <a:headEnd type="none" w="sm" len="sm"/>
              <a:tailEnd type="triangle" w="med" len="med"/>
            </a:ln>
          </p:spPr>
          <p:txBody>
            <a:bodyPr/>
            <a:lstStyle/>
            <a:p>
              <a:endParaRPr lang="en-US"/>
            </a:p>
          </p:txBody>
        </p:sp>
        <p:sp>
          <p:nvSpPr>
            <p:cNvPr id="24596" name="Line 18"/>
            <p:cNvSpPr>
              <a:spLocks noChangeShapeType="1"/>
            </p:cNvSpPr>
            <p:nvPr/>
          </p:nvSpPr>
          <p:spPr bwMode="auto">
            <a:xfrm flipV="1">
              <a:off x="4060" y="3648"/>
              <a:ext cx="0" cy="288"/>
            </a:xfrm>
            <a:prstGeom prst="line">
              <a:avLst/>
            </a:prstGeom>
            <a:noFill/>
            <a:ln w="31750">
              <a:solidFill>
                <a:schemeClr val="hlink"/>
              </a:solidFill>
              <a:round/>
              <a:headEnd type="none" w="sm" len="sm"/>
              <a:tailEnd type="triangle" w="med" len="med"/>
            </a:ln>
          </p:spPr>
          <p:txBody>
            <a:bodyPr/>
            <a:lstStyle/>
            <a:p>
              <a:endParaRPr lang="en-US"/>
            </a:p>
          </p:txBody>
        </p:sp>
      </p:grpSp>
      <p:sp>
        <p:nvSpPr>
          <p:cNvPr id="21" name="Rectangle 20"/>
          <p:cNvSpPr/>
          <p:nvPr/>
        </p:nvSpPr>
        <p:spPr>
          <a:xfrm>
            <a:off x="1423850" y="360362"/>
            <a:ext cx="9929949" cy="10634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54832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23338" y="1881051"/>
            <a:ext cx="6170885" cy="3758515"/>
          </a:xfrm>
        </p:spPr>
        <p:txBody>
          <a:bodyPr>
            <a:normAutofit/>
          </a:bodyPr>
          <a:lstStyle/>
          <a:p>
            <a:pPr algn="just"/>
            <a:r>
              <a:rPr lang="en-US" sz="2400" dirty="0"/>
              <a:t>A Queue is "an abstract data type in which elements are added to the rear and removed from the front; a 'first in, first out' (FIFO) structure." </a:t>
            </a: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2" name="Rectangle 1"/>
          <p:cNvSpPr/>
          <p:nvPr/>
        </p:nvSpPr>
        <p:spPr>
          <a:xfrm>
            <a:off x="5171090" y="1881051"/>
            <a:ext cx="6433645" cy="43281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271595" y="5512598"/>
            <a:ext cx="6232634" cy="369332"/>
          </a:xfrm>
          <a:prstGeom prst="rect">
            <a:avLst/>
          </a:prstGeom>
        </p:spPr>
        <p:txBody>
          <a:bodyPr wrap="square">
            <a:spAutoFit/>
          </a:bodyPr>
          <a:lstStyle/>
          <a:p>
            <a:r>
              <a:rPr lang="en-US" dirty="0">
                <a:hlinkClick r:id="rId2"/>
              </a:rPr>
              <a:t>http://www.cs.uregina.ca/Links/class-info/210/Queue/</a:t>
            </a:r>
            <a:endParaRPr lang="en-US" dirty="0"/>
          </a:p>
        </p:txBody>
      </p:sp>
      <p:sp>
        <p:nvSpPr>
          <p:cNvPr id="6" name="AutoShape 2" descr="Image result for Queue defini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2369" y="3545518"/>
            <a:ext cx="2809875" cy="1533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Placeholder 10">
            <a:extLst>
              <a:ext uri="{FF2B5EF4-FFF2-40B4-BE49-F238E27FC236}">
                <a16:creationId xmlns:a16="http://schemas.microsoft.com/office/drawing/2014/main" id="{C3A24B62-D8ED-4561-89D2-8098A9366552}"/>
              </a:ext>
            </a:extLst>
          </p:cNvPr>
          <p:cNvSpPr>
            <a:spLocks noGrp="1"/>
          </p:cNvSpPr>
          <p:nvPr>
            <p:ph type="body" sz="half" idx="2"/>
          </p:nvPr>
        </p:nvSpPr>
        <p:spPr>
          <a:xfrm>
            <a:off x="852851" y="1835331"/>
            <a:ext cx="3932237" cy="4298950"/>
          </a:xfrm>
        </p:spPr>
        <p:txBody>
          <a:bodyPr>
            <a:normAutofit/>
          </a:bodyPr>
          <a:lstStyle/>
          <a:p>
            <a:pPr algn="just"/>
            <a:r>
              <a:rPr lang="en-US" altLang="en-US" sz="2400" dirty="0"/>
              <a:t>A queue is a data structure that stores data in such a way that the last piece of data stored, is the last one </a:t>
            </a:r>
            <a:r>
              <a:rPr lang="en-US" altLang="en-US" sz="2400" dirty="0" smtClean="0"/>
              <a:t>retrieved. It is also </a:t>
            </a:r>
            <a:r>
              <a:rPr lang="en-US" altLang="en-US" sz="2400" dirty="0"/>
              <a:t>called First-In, First-Out (FIFO</a:t>
            </a:r>
            <a:r>
              <a:rPr lang="en-US" altLang="en-US" sz="2400" dirty="0" smtClean="0"/>
              <a:t>).</a:t>
            </a:r>
            <a:endParaRPr lang="en-US" altLang="en-US" sz="2400" dirty="0"/>
          </a:p>
          <a:p>
            <a:pPr algn="just"/>
            <a:r>
              <a:rPr lang="en-US" altLang="en-US" sz="2400" dirty="0" smtClean="0"/>
              <a:t>Consider </a:t>
            </a:r>
            <a:r>
              <a:rPr lang="en-US" altLang="en-US" sz="2400" dirty="0"/>
              <a:t>people standing in </a:t>
            </a:r>
            <a:r>
              <a:rPr lang="en-US" altLang="en-US" sz="2400" dirty="0" smtClean="0"/>
              <a:t>line. They </a:t>
            </a:r>
            <a:r>
              <a:rPr lang="en-US" altLang="en-US" sz="2400" dirty="0"/>
              <a:t>get service in the order </a:t>
            </a:r>
            <a:r>
              <a:rPr lang="en-US" altLang="en-US" sz="2400" dirty="0" smtClean="0"/>
              <a:t>they arrive.</a:t>
            </a:r>
            <a:endParaRPr lang="en-IN" sz="2400" dirty="0"/>
          </a:p>
        </p:txBody>
      </p:sp>
      <p:sp>
        <p:nvSpPr>
          <p:cNvPr id="14" name="Title 1"/>
          <p:cNvSpPr>
            <a:spLocks noGrp="1"/>
          </p:cNvSpPr>
          <p:nvPr>
            <p:ph type="title"/>
          </p:nvPr>
        </p:nvSpPr>
        <p:spPr>
          <a:xfrm>
            <a:off x="942703" y="574766"/>
            <a:ext cx="3903617" cy="658722"/>
          </a:xfrm>
        </p:spPr>
        <p:txBody>
          <a:bodyPr>
            <a:noAutofit/>
          </a:bodyPr>
          <a:lstStyle/>
          <a:p>
            <a:r>
              <a:rPr lang="en-US" altLang="en-US" sz="4800" b="1" dirty="0" smtClean="0">
                <a:latin typeface="Casper Bold"/>
              </a:rPr>
              <a:t>Queues</a:t>
            </a:r>
            <a:endParaRPr lang="en-US" altLang="en-US" sz="4800" b="1" dirty="0">
              <a:latin typeface="Casper Bold"/>
            </a:endParaRPr>
          </a:p>
        </p:txBody>
      </p:sp>
      <p:sp>
        <p:nvSpPr>
          <p:cNvPr id="15" name="Rectangle 14"/>
          <p:cNvSpPr/>
          <p:nvPr/>
        </p:nvSpPr>
        <p:spPr>
          <a:xfrm>
            <a:off x="838200" y="360362"/>
            <a:ext cx="10515600" cy="10634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417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800" b="1" dirty="0" smtClean="0">
                <a:latin typeface="Casper Bold"/>
              </a:rPr>
              <a:t>Queues</a:t>
            </a:r>
            <a:endParaRPr lang="en-US" altLang="en-US" sz="4800" b="1" dirty="0">
              <a:latin typeface="Casper Bold"/>
            </a:endParaRPr>
          </a:p>
        </p:txBody>
      </p:sp>
      <p:sp>
        <p:nvSpPr>
          <p:cNvPr id="3" name="Content Placeholder 2"/>
          <p:cNvSpPr>
            <a:spLocks noGrp="1"/>
          </p:cNvSpPr>
          <p:nvPr>
            <p:ph idx="1"/>
          </p:nvPr>
        </p:nvSpPr>
        <p:spPr/>
        <p:txBody>
          <a:bodyPr/>
          <a:lstStyle/>
          <a:p>
            <a:pPr algn="just"/>
            <a:r>
              <a:rPr lang="en-US" dirty="0" smtClean="0"/>
              <a:t>A Queue is a linear list of elements in which deletions can take place only at one end, called the </a:t>
            </a:r>
            <a:r>
              <a:rPr lang="en-US" b="1" i="1" dirty="0" smtClean="0"/>
              <a:t>front</a:t>
            </a:r>
            <a:r>
              <a:rPr lang="en-US" dirty="0" smtClean="0"/>
              <a:t>, and insertions can take place only at the other end, called the </a:t>
            </a:r>
            <a:r>
              <a:rPr lang="en-US" b="1" i="1" dirty="0" smtClean="0"/>
              <a:t>rear</a:t>
            </a:r>
            <a:r>
              <a:rPr lang="en-US" dirty="0" smtClean="0"/>
              <a:t>. The terms “front” and “rear” are used in describing a linear list only when it is implemented as a queue.</a:t>
            </a:r>
          </a:p>
          <a:p>
            <a:pPr algn="just"/>
            <a:r>
              <a:rPr lang="en-US" dirty="0" smtClean="0"/>
              <a:t>Queues are also called first-in first-out (FIFO) lists, since the first element in a queue will be the first element out of the queue. In other words, the order in which elements enter a queue is the order in which they leave. This contrasts with stacks, which are Last-in First-out (LIFO) lists.</a:t>
            </a:r>
          </a:p>
          <a:p>
            <a:pPr algn="just"/>
            <a:endParaRPr lang="en-US" dirty="0"/>
          </a:p>
        </p:txBody>
      </p:sp>
      <p:sp>
        <p:nvSpPr>
          <p:cNvPr id="4" name="Rectangle 3"/>
          <p:cNvSpPr/>
          <p:nvPr/>
        </p:nvSpPr>
        <p:spPr>
          <a:xfrm>
            <a:off x="838200" y="360362"/>
            <a:ext cx="10515600" cy="10634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800" b="1" dirty="0" smtClean="0">
                <a:latin typeface="Casper Bold"/>
              </a:rPr>
              <a:t>Queue in everyday life</a:t>
            </a:r>
            <a:endParaRPr lang="en-US" altLang="en-US" sz="4800" b="1" dirty="0">
              <a:latin typeface="Casper Bold"/>
            </a:endParaRPr>
          </a:p>
        </p:txBody>
      </p:sp>
      <p:sp>
        <p:nvSpPr>
          <p:cNvPr id="3" name="Content Placeholder 2"/>
          <p:cNvSpPr>
            <a:spLocks noGrp="1"/>
          </p:cNvSpPr>
          <p:nvPr>
            <p:ph idx="1"/>
          </p:nvPr>
        </p:nvSpPr>
        <p:spPr/>
        <p:txBody>
          <a:bodyPr/>
          <a:lstStyle/>
          <a:p>
            <a:pPr algn="just">
              <a:lnSpc>
                <a:spcPct val="80000"/>
              </a:lnSpc>
            </a:pPr>
            <a:r>
              <a:rPr lang="en-US" dirty="0" smtClean="0"/>
              <a:t>The automobiles waiting to pass through an intersection form a queue, in which the first car in line is the first car through.		</a:t>
            </a:r>
          </a:p>
          <a:p>
            <a:pPr algn="just">
              <a:lnSpc>
                <a:spcPct val="80000"/>
              </a:lnSpc>
            </a:pPr>
            <a:r>
              <a:rPr lang="en-US" dirty="0" smtClean="0"/>
              <a:t>The people waiting in line at a bank form a queue, where the first  person in line is the first person to exit from the queue.</a:t>
            </a:r>
          </a:p>
          <a:p>
            <a:pPr algn="just">
              <a:lnSpc>
                <a:spcPct val="80000"/>
              </a:lnSpc>
            </a:pPr>
            <a:r>
              <a:rPr lang="en-US" dirty="0" smtClean="0"/>
              <a:t>An important example of a queue in computer science occurs in a timesharing system, in which programs with the same priority form a queue while waiting to be executed. 		</a:t>
            </a:r>
          </a:p>
          <a:p>
            <a:pPr algn="just">
              <a:lnSpc>
                <a:spcPct val="80000"/>
              </a:lnSpc>
            </a:pPr>
            <a:r>
              <a:rPr lang="en-US" dirty="0" smtClean="0"/>
              <a:t>Queue for </a:t>
            </a:r>
            <a:r>
              <a:rPr lang="en-US" smtClean="0"/>
              <a:t>printing purposes.</a:t>
            </a:r>
            <a:endParaRPr lang="en-US" dirty="0" smtClean="0"/>
          </a:p>
          <a:p>
            <a:pPr algn="just">
              <a:lnSpc>
                <a:spcPct val="80000"/>
              </a:lnSpc>
            </a:pPr>
            <a:endParaRPr lang="en-US" dirty="0" smtClean="0"/>
          </a:p>
          <a:p>
            <a:pPr algn="just"/>
            <a:endParaRPr lang="en-US" dirty="0"/>
          </a:p>
        </p:txBody>
      </p:sp>
      <p:sp>
        <p:nvSpPr>
          <p:cNvPr id="5" name="Rectangle 4"/>
          <p:cNvSpPr/>
          <p:nvPr/>
        </p:nvSpPr>
        <p:spPr>
          <a:xfrm>
            <a:off x="838200" y="360362"/>
            <a:ext cx="10515600" cy="10634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8731" y="302622"/>
            <a:ext cx="10566400" cy="609600"/>
          </a:xfrm>
        </p:spPr>
        <p:txBody>
          <a:bodyPr>
            <a:noAutofit/>
          </a:bodyPr>
          <a:lstStyle/>
          <a:p>
            <a:r>
              <a:rPr lang="en-US" altLang="en-US" sz="4800" b="1" dirty="0" smtClean="0">
                <a:latin typeface="Casper Bold"/>
              </a:rPr>
              <a:t>Queues</a:t>
            </a:r>
            <a:endParaRPr lang="en-US" altLang="en-US" sz="4800" b="1" dirty="0">
              <a:latin typeface="Casper Bold"/>
            </a:endParaRPr>
          </a:p>
        </p:txBody>
      </p:sp>
      <p:sp>
        <p:nvSpPr>
          <p:cNvPr id="4" name="Rectangle 3"/>
          <p:cNvSpPr txBox="1">
            <a:spLocks noChangeArrowheads="1"/>
          </p:cNvSpPr>
          <p:nvPr/>
        </p:nvSpPr>
        <p:spPr>
          <a:xfrm>
            <a:off x="1045029" y="968828"/>
            <a:ext cx="10189029" cy="2388325"/>
          </a:xfrm>
          <a:prstGeom prst="rect">
            <a:avLst/>
          </a:prstGeom>
          <a:solidFill>
            <a:srgbClr val="EBF6F7"/>
          </a:solidFill>
          <a:ln>
            <a:solidFill>
              <a:srgbClr val="0066FF"/>
            </a:solidFill>
          </a:ln>
        </p:spPr>
        <p:txBody>
          <a:bodyPr>
            <a:noAutofit/>
          </a:bodyPr>
          <a:lstStyle/>
          <a:p>
            <a:pPr marL="342900" marR="0" lvl="0" indent="-342900" algn="just" defTabSz="914400" rtl="0" eaLnBrk="1" fontAlgn="auto" latinLnBrk="0" hangingPunct="1">
              <a:lnSpc>
                <a:spcPct val="100000"/>
              </a:lnSpc>
              <a:spcBef>
                <a:spcPct val="20000"/>
              </a:spcBef>
              <a:spcAft>
                <a:spcPts val="0"/>
              </a:spcAft>
              <a:buClrTx/>
              <a:buSzTx/>
              <a:buFontTx/>
              <a:buNone/>
              <a:tabLst/>
              <a:defRPr/>
            </a:pPr>
            <a:r>
              <a:rPr kumimoji="0" lang="en-US" b="0" i="0" u="none" strike="noStrike" kern="1200" cap="none" spc="0" normalizeH="0" baseline="0" noProof="0" dirty="0" smtClean="0">
                <a:ln>
                  <a:noFill/>
                </a:ln>
                <a:solidFill>
                  <a:schemeClr val="tx1"/>
                </a:solidFill>
                <a:effectLst/>
                <a:uLnTx/>
                <a:uFillTx/>
                <a:latin typeface="Cambria" pitchFamily="18" charset="0"/>
                <a:ea typeface="+mn-ea"/>
                <a:cs typeface="+mn-cs"/>
              </a:rPr>
              <a:t>	Figure  (a) is a schematic diagram of a queue with 4 elements, where AAA is the front element and DDD is the rear element. Observe that the front and rear elements of the queue are also, respectively, the first and last elements of the list. Suppose an element is deleted from the queue. Then it must be AAA. This yields the queue in figure (b), where BBB is now the front element. Next, suppose EEE is added to the queue and then FFF is now the rear element. Now suppose another element is deleted from the queue; then it must be BBB, to yield the queue in figure</a:t>
            </a:r>
            <a:r>
              <a:rPr kumimoji="0" lang="en-US" b="0" i="0" u="none" strike="noStrike" kern="1200" cap="none" spc="0" normalizeH="0" noProof="0" dirty="0" smtClean="0">
                <a:ln>
                  <a:noFill/>
                </a:ln>
                <a:solidFill>
                  <a:schemeClr val="tx1"/>
                </a:solidFill>
                <a:effectLst/>
                <a:uLnTx/>
                <a:uFillTx/>
                <a:latin typeface="Cambria" pitchFamily="18" charset="0"/>
                <a:ea typeface="+mn-ea"/>
                <a:cs typeface="+mn-cs"/>
              </a:rPr>
              <a:t> </a:t>
            </a:r>
            <a:r>
              <a:rPr kumimoji="0" lang="en-US" b="0" i="0" u="none" strike="noStrike" kern="1200" cap="none" spc="0" normalizeH="0" baseline="0" noProof="0" dirty="0" smtClean="0">
                <a:ln>
                  <a:noFill/>
                </a:ln>
                <a:solidFill>
                  <a:schemeClr val="tx1"/>
                </a:solidFill>
                <a:effectLst/>
                <a:uLnTx/>
                <a:uFillTx/>
                <a:latin typeface="Cambria" pitchFamily="18" charset="0"/>
                <a:ea typeface="+mn-ea"/>
                <a:cs typeface="+mn-cs"/>
              </a:rPr>
              <a:t>(d). And so on. Observe that in such a data structure, EEE will be deleted before FFF because it has been placed in the queue before FFF. However, EEE will have to wait until CCC and DDD are deleted.</a:t>
            </a:r>
          </a:p>
        </p:txBody>
      </p:sp>
      <p:grpSp>
        <p:nvGrpSpPr>
          <p:cNvPr id="3" name="Group 4"/>
          <p:cNvGrpSpPr>
            <a:grpSpLocks/>
          </p:cNvGrpSpPr>
          <p:nvPr/>
        </p:nvGrpSpPr>
        <p:grpSpPr bwMode="auto">
          <a:xfrm>
            <a:off x="1978297" y="4221476"/>
            <a:ext cx="9347200" cy="1905000"/>
            <a:chOff x="1200" y="2781"/>
            <a:chExt cx="4416" cy="1200"/>
          </a:xfrm>
        </p:grpSpPr>
        <p:sp>
          <p:nvSpPr>
            <p:cNvPr id="6" name="Text Box 5"/>
            <p:cNvSpPr txBox="1">
              <a:spLocks noChangeArrowheads="1"/>
            </p:cNvSpPr>
            <p:nvPr/>
          </p:nvSpPr>
          <p:spPr bwMode="auto">
            <a:xfrm>
              <a:off x="1200" y="2781"/>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dirty="0"/>
                <a:t>AAA</a:t>
              </a:r>
            </a:p>
          </p:txBody>
        </p:sp>
        <p:sp>
          <p:nvSpPr>
            <p:cNvPr id="7" name="Text Box 6"/>
            <p:cNvSpPr txBox="1">
              <a:spLocks noChangeArrowheads="1"/>
            </p:cNvSpPr>
            <p:nvPr/>
          </p:nvSpPr>
          <p:spPr bwMode="auto">
            <a:xfrm>
              <a:off x="2784" y="2784"/>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CCC</a:t>
              </a:r>
            </a:p>
          </p:txBody>
        </p:sp>
        <p:sp>
          <p:nvSpPr>
            <p:cNvPr id="8" name="Text Box 7"/>
            <p:cNvSpPr txBox="1">
              <a:spLocks noChangeArrowheads="1"/>
            </p:cNvSpPr>
            <p:nvPr/>
          </p:nvSpPr>
          <p:spPr bwMode="auto">
            <a:xfrm>
              <a:off x="1968" y="2784"/>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dirty="0"/>
                <a:t>BBB</a:t>
              </a:r>
            </a:p>
          </p:txBody>
        </p:sp>
        <p:sp>
          <p:nvSpPr>
            <p:cNvPr id="9" name="Text Box 8"/>
            <p:cNvSpPr txBox="1">
              <a:spLocks noChangeArrowheads="1"/>
            </p:cNvSpPr>
            <p:nvPr/>
          </p:nvSpPr>
          <p:spPr bwMode="auto">
            <a:xfrm>
              <a:off x="3648" y="2784"/>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DDD</a:t>
              </a:r>
            </a:p>
          </p:txBody>
        </p:sp>
        <p:sp>
          <p:nvSpPr>
            <p:cNvPr id="10" name="Line 9"/>
            <p:cNvSpPr>
              <a:spLocks noChangeShapeType="1"/>
            </p:cNvSpPr>
            <p:nvPr/>
          </p:nvSpPr>
          <p:spPr bwMode="auto">
            <a:xfrm>
              <a:off x="1680" y="2877"/>
              <a:ext cx="288" cy="0"/>
            </a:xfrm>
            <a:prstGeom prst="line">
              <a:avLst/>
            </a:prstGeom>
            <a:noFill/>
            <a:ln w="9525">
              <a:solidFill>
                <a:schemeClr val="tx1"/>
              </a:solidFill>
              <a:round/>
              <a:headEnd/>
              <a:tailEnd type="triangle" w="med" len="med"/>
            </a:ln>
          </p:spPr>
          <p:txBody>
            <a:bodyPr/>
            <a:lstStyle/>
            <a:p>
              <a:endParaRPr lang="en-US"/>
            </a:p>
          </p:txBody>
        </p:sp>
        <p:sp>
          <p:nvSpPr>
            <p:cNvPr id="11" name="Line 10"/>
            <p:cNvSpPr>
              <a:spLocks noChangeShapeType="1"/>
            </p:cNvSpPr>
            <p:nvPr/>
          </p:nvSpPr>
          <p:spPr bwMode="auto">
            <a:xfrm>
              <a:off x="2448" y="2925"/>
              <a:ext cx="336" cy="0"/>
            </a:xfrm>
            <a:prstGeom prst="line">
              <a:avLst/>
            </a:prstGeom>
            <a:noFill/>
            <a:ln w="9525">
              <a:solidFill>
                <a:schemeClr val="tx1"/>
              </a:solidFill>
              <a:round/>
              <a:headEnd/>
              <a:tailEnd type="triangle" w="med" len="med"/>
            </a:ln>
          </p:spPr>
          <p:txBody>
            <a:bodyPr/>
            <a:lstStyle/>
            <a:p>
              <a:endParaRPr lang="en-US"/>
            </a:p>
          </p:txBody>
        </p:sp>
        <p:sp>
          <p:nvSpPr>
            <p:cNvPr id="12" name="Line 11"/>
            <p:cNvSpPr>
              <a:spLocks noChangeShapeType="1"/>
            </p:cNvSpPr>
            <p:nvPr/>
          </p:nvSpPr>
          <p:spPr bwMode="auto">
            <a:xfrm>
              <a:off x="3264" y="2925"/>
              <a:ext cx="384" cy="0"/>
            </a:xfrm>
            <a:prstGeom prst="line">
              <a:avLst/>
            </a:prstGeom>
            <a:noFill/>
            <a:ln w="9525">
              <a:solidFill>
                <a:schemeClr val="tx1"/>
              </a:solidFill>
              <a:round/>
              <a:headEnd/>
              <a:tailEnd type="triangle" w="med" len="med"/>
            </a:ln>
          </p:spPr>
          <p:txBody>
            <a:bodyPr/>
            <a:lstStyle/>
            <a:p>
              <a:endParaRPr lang="en-US"/>
            </a:p>
          </p:txBody>
        </p:sp>
        <p:sp>
          <p:nvSpPr>
            <p:cNvPr id="13" name="Text Box 12"/>
            <p:cNvSpPr txBox="1">
              <a:spLocks noChangeArrowheads="1"/>
            </p:cNvSpPr>
            <p:nvPr/>
          </p:nvSpPr>
          <p:spPr bwMode="auto">
            <a:xfrm>
              <a:off x="2784" y="3117"/>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CCC</a:t>
              </a:r>
            </a:p>
          </p:txBody>
        </p:sp>
        <p:sp>
          <p:nvSpPr>
            <p:cNvPr id="14" name="Text Box 13"/>
            <p:cNvSpPr txBox="1">
              <a:spLocks noChangeArrowheads="1"/>
            </p:cNvSpPr>
            <p:nvPr/>
          </p:nvSpPr>
          <p:spPr bwMode="auto">
            <a:xfrm>
              <a:off x="1968" y="3117"/>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BBB</a:t>
              </a:r>
            </a:p>
          </p:txBody>
        </p:sp>
        <p:sp>
          <p:nvSpPr>
            <p:cNvPr id="15" name="Text Box 14"/>
            <p:cNvSpPr txBox="1">
              <a:spLocks noChangeArrowheads="1"/>
            </p:cNvSpPr>
            <p:nvPr/>
          </p:nvSpPr>
          <p:spPr bwMode="auto">
            <a:xfrm>
              <a:off x="3648" y="3117"/>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DDD</a:t>
              </a:r>
            </a:p>
          </p:txBody>
        </p:sp>
        <p:sp>
          <p:nvSpPr>
            <p:cNvPr id="16" name="Line 15"/>
            <p:cNvSpPr>
              <a:spLocks noChangeShapeType="1"/>
            </p:cNvSpPr>
            <p:nvPr/>
          </p:nvSpPr>
          <p:spPr bwMode="auto">
            <a:xfrm>
              <a:off x="2448" y="3258"/>
              <a:ext cx="336" cy="0"/>
            </a:xfrm>
            <a:prstGeom prst="line">
              <a:avLst/>
            </a:prstGeom>
            <a:noFill/>
            <a:ln w="9525">
              <a:solidFill>
                <a:schemeClr val="tx1"/>
              </a:solidFill>
              <a:round/>
              <a:headEnd/>
              <a:tailEnd type="triangle" w="med" len="med"/>
            </a:ln>
          </p:spPr>
          <p:txBody>
            <a:bodyPr/>
            <a:lstStyle/>
            <a:p>
              <a:endParaRPr lang="en-US"/>
            </a:p>
          </p:txBody>
        </p:sp>
        <p:sp>
          <p:nvSpPr>
            <p:cNvPr id="17" name="Line 16"/>
            <p:cNvSpPr>
              <a:spLocks noChangeShapeType="1"/>
            </p:cNvSpPr>
            <p:nvPr/>
          </p:nvSpPr>
          <p:spPr bwMode="auto">
            <a:xfrm>
              <a:off x="3264" y="3258"/>
              <a:ext cx="384" cy="0"/>
            </a:xfrm>
            <a:prstGeom prst="line">
              <a:avLst/>
            </a:prstGeom>
            <a:noFill/>
            <a:ln w="9525">
              <a:solidFill>
                <a:schemeClr val="tx1"/>
              </a:solidFill>
              <a:round/>
              <a:headEnd/>
              <a:tailEnd type="triangle" w="med" len="med"/>
            </a:ln>
          </p:spPr>
          <p:txBody>
            <a:bodyPr/>
            <a:lstStyle/>
            <a:p>
              <a:endParaRPr lang="en-US"/>
            </a:p>
          </p:txBody>
        </p:sp>
        <p:sp>
          <p:nvSpPr>
            <p:cNvPr id="18" name="Text Box 17"/>
            <p:cNvSpPr txBox="1">
              <a:spLocks noChangeArrowheads="1"/>
            </p:cNvSpPr>
            <p:nvPr/>
          </p:nvSpPr>
          <p:spPr bwMode="auto">
            <a:xfrm>
              <a:off x="2784" y="3453"/>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CCC</a:t>
              </a:r>
            </a:p>
          </p:txBody>
        </p:sp>
        <p:sp>
          <p:nvSpPr>
            <p:cNvPr id="19" name="Text Box 18"/>
            <p:cNvSpPr txBox="1">
              <a:spLocks noChangeArrowheads="1"/>
            </p:cNvSpPr>
            <p:nvPr/>
          </p:nvSpPr>
          <p:spPr bwMode="auto">
            <a:xfrm>
              <a:off x="1968" y="3453"/>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BBB</a:t>
              </a:r>
            </a:p>
          </p:txBody>
        </p:sp>
        <p:sp>
          <p:nvSpPr>
            <p:cNvPr id="20" name="Text Box 19"/>
            <p:cNvSpPr txBox="1">
              <a:spLocks noChangeArrowheads="1"/>
            </p:cNvSpPr>
            <p:nvPr/>
          </p:nvSpPr>
          <p:spPr bwMode="auto">
            <a:xfrm>
              <a:off x="3648" y="3453"/>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DDD</a:t>
              </a:r>
            </a:p>
          </p:txBody>
        </p:sp>
        <p:sp>
          <p:nvSpPr>
            <p:cNvPr id="21" name="Line 20"/>
            <p:cNvSpPr>
              <a:spLocks noChangeShapeType="1"/>
            </p:cNvSpPr>
            <p:nvPr/>
          </p:nvSpPr>
          <p:spPr bwMode="auto">
            <a:xfrm>
              <a:off x="2448" y="3594"/>
              <a:ext cx="336" cy="0"/>
            </a:xfrm>
            <a:prstGeom prst="line">
              <a:avLst/>
            </a:prstGeom>
            <a:noFill/>
            <a:ln w="9525">
              <a:solidFill>
                <a:schemeClr val="tx1"/>
              </a:solidFill>
              <a:round/>
              <a:headEnd/>
              <a:tailEnd type="triangle" w="med" len="med"/>
            </a:ln>
          </p:spPr>
          <p:txBody>
            <a:bodyPr/>
            <a:lstStyle/>
            <a:p>
              <a:endParaRPr lang="en-US"/>
            </a:p>
          </p:txBody>
        </p:sp>
        <p:sp>
          <p:nvSpPr>
            <p:cNvPr id="22" name="Line 21"/>
            <p:cNvSpPr>
              <a:spLocks noChangeShapeType="1"/>
            </p:cNvSpPr>
            <p:nvPr/>
          </p:nvSpPr>
          <p:spPr bwMode="auto">
            <a:xfrm>
              <a:off x="3264" y="3594"/>
              <a:ext cx="384" cy="0"/>
            </a:xfrm>
            <a:prstGeom prst="line">
              <a:avLst/>
            </a:prstGeom>
            <a:noFill/>
            <a:ln w="9525">
              <a:solidFill>
                <a:schemeClr val="tx1"/>
              </a:solidFill>
              <a:round/>
              <a:headEnd/>
              <a:tailEnd type="triangle" w="med" len="med"/>
            </a:ln>
          </p:spPr>
          <p:txBody>
            <a:bodyPr/>
            <a:lstStyle/>
            <a:p>
              <a:endParaRPr lang="en-US"/>
            </a:p>
          </p:txBody>
        </p:sp>
        <p:sp>
          <p:nvSpPr>
            <p:cNvPr id="23" name="Text Box 22"/>
            <p:cNvSpPr txBox="1">
              <a:spLocks noChangeArrowheads="1"/>
            </p:cNvSpPr>
            <p:nvPr/>
          </p:nvSpPr>
          <p:spPr bwMode="auto">
            <a:xfrm>
              <a:off x="4368" y="3453"/>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EEE</a:t>
              </a:r>
            </a:p>
          </p:txBody>
        </p:sp>
        <p:sp>
          <p:nvSpPr>
            <p:cNvPr id="24" name="Text Box 23"/>
            <p:cNvSpPr txBox="1">
              <a:spLocks noChangeArrowheads="1"/>
            </p:cNvSpPr>
            <p:nvPr/>
          </p:nvSpPr>
          <p:spPr bwMode="auto">
            <a:xfrm>
              <a:off x="5136" y="3453"/>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FFF</a:t>
              </a:r>
            </a:p>
          </p:txBody>
        </p:sp>
        <p:sp>
          <p:nvSpPr>
            <p:cNvPr id="25" name="Line 24"/>
            <p:cNvSpPr>
              <a:spLocks noChangeShapeType="1"/>
            </p:cNvSpPr>
            <p:nvPr/>
          </p:nvSpPr>
          <p:spPr bwMode="auto">
            <a:xfrm>
              <a:off x="4128" y="3549"/>
              <a:ext cx="288" cy="0"/>
            </a:xfrm>
            <a:prstGeom prst="line">
              <a:avLst/>
            </a:prstGeom>
            <a:noFill/>
            <a:ln w="9525">
              <a:solidFill>
                <a:schemeClr val="tx1"/>
              </a:solidFill>
              <a:round/>
              <a:headEnd/>
              <a:tailEnd type="triangle" w="med" len="med"/>
            </a:ln>
          </p:spPr>
          <p:txBody>
            <a:bodyPr/>
            <a:lstStyle/>
            <a:p>
              <a:endParaRPr lang="en-US"/>
            </a:p>
          </p:txBody>
        </p:sp>
        <p:sp>
          <p:nvSpPr>
            <p:cNvPr id="26" name="Line 25"/>
            <p:cNvSpPr>
              <a:spLocks noChangeShapeType="1"/>
            </p:cNvSpPr>
            <p:nvPr/>
          </p:nvSpPr>
          <p:spPr bwMode="auto">
            <a:xfrm>
              <a:off x="4848" y="3549"/>
              <a:ext cx="288" cy="0"/>
            </a:xfrm>
            <a:prstGeom prst="line">
              <a:avLst/>
            </a:prstGeom>
            <a:noFill/>
            <a:ln w="9525">
              <a:solidFill>
                <a:schemeClr val="tx1"/>
              </a:solidFill>
              <a:round/>
              <a:headEnd/>
              <a:tailEnd type="triangle" w="med" len="med"/>
            </a:ln>
          </p:spPr>
          <p:txBody>
            <a:bodyPr/>
            <a:lstStyle/>
            <a:p>
              <a:endParaRPr lang="en-US"/>
            </a:p>
          </p:txBody>
        </p:sp>
        <p:sp>
          <p:nvSpPr>
            <p:cNvPr id="27" name="Text Box 26"/>
            <p:cNvSpPr txBox="1">
              <a:spLocks noChangeArrowheads="1"/>
            </p:cNvSpPr>
            <p:nvPr/>
          </p:nvSpPr>
          <p:spPr bwMode="auto">
            <a:xfrm>
              <a:off x="2784" y="3744"/>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CCC</a:t>
              </a:r>
            </a:p>
          </p:txBody>
        </p:sp>
        <p:sp>
          <p:nvSpPr>
            <p:cNvPr id="28" name="Text Box 27"/>
            <p:cNvSpPr txBox="1">
              <a:spLocks noChangeArrowheads="1"/>
            </p:cNvSpPr>
            <p:nvPr/>
          </p:nvSpPr>
          <p:spPr bwMode="auto">
            <a:xfrm>
              <a:off x="3648" y="3744"/>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DDD</a:t>
              </a:r>
            </a:p>
          </p:txBody>
        </p:sp>
        <p:sp>
          <p:nvSpPr>
            <p:cNvPr id="29" name="Line 28"/>
            <p:cNvSpPr>
              <a:spLocks noChangeShapeType="1"/>
            </p:cNvSpPr>
            <p:nvPr/>
          </p:nvSpPr>
          <p:spPr bwMode="auto">
            <a:xfrm>
              <a:off x="3264" y="3885"/>
              <a:ext cx="384" cy="0"/>
            </a:xfrm>
            <a:prstGeom prst="line">
              <a:avLst/>
            </a:prstGeom>
            <a:noFill/>
            <a:ln w="9525">
              <a:solidFill>
                <a:schemeClr val="tx1"/>
              </a:solidFill>
              <a:round/>
              <a:headEnd/>
              <a:tailEnd type="triangle" w="med" len="med"/>
            </a:ln>
          </p:spPr>
          <p:txBody>
            <a:bodyPr/>
            <a:lstStyle/>
            <a:p>
              <a:endParaRPr lang="en-US"/>
            </a:p>
          </p:txBody>
        </p:sp>
        <p:sp>
          <p:nvSpPr>
            <p:cNvPr id="30" name="Text Box 29"/>
            <p:cNvSpPr txBox="1">
              <a:spLocks noChangeArrowheads="1"/>
            </p:cNvSpPr>
            <p:nvPr/>
          </p:nvSpPr>
          <p:spPr bwMode="auto">
            <a:xfrm>
              <a:off x="4368" y="3744"/>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EEE</a:t>
              </a:r>
            </a:p>
          </p:txBody>
        </p:sp>
        <p:sp>
          <p:nvSpPr>
            <p:cNvPr id="31" name="Text Box 30"/>
            <p:cNvSpPr txBox="1">
              <a:spLocks noChangeArrowheads="1"/>
            </p:cNvSpPr>
            <p:nvPr/>
          </p:nvSpPr>
          <p:spPr bwMode="auto">
            <a:xfrm>
              <a:off x="5136" y="3744"/>
              <a:ext cx="480" cy="237"/>
            </a:xfrm>
            <a:prstGeom prst="rect">
              <a:avLst/>
            </a:prstGeom>
            <a:solidFill>
              <a:srgbClr val="FEECFC"/>
            </a:solidFill>
            <a:ln w="9525">
              <a:solidFill>
                <a:schemeClr val="tx1"/>
              </a:solidFill>
              <a:miter lim="800000"/>
              <a:headEnd/>
              <a:tailEnd/>
            </a:ln>
          </p:spPr>
          <p:txBody>
            <a:bodyPr>
              <a:spAutoFit/>
            </a:bodyPr>
            <a:lstStyle/>
            <a:p>
              <a:pPr>
                <a:spcBef>
                  <a:spcPct val="50000"/>
                </a:spcBef>
              </a:pPr>
              <a:r>
                <a:rPr lang="en-US"/>
                <a:t>FFF</a:t>
              </a:r>
            </a:p>
          </p:txBody>
        </p:sp>
        <p:sp>
          <p:nvSpPr>
            <p:cNvPr id="32" name="Line 31"/>
            <p:cNvSpPr>
              <a:spLocks noChangeShapeType="1"/>
            </p:cNvSpPr>
            <p:nvPr/>
          </p:nvSpPr>
          <p:spPr bwMode="auto">
            <a:xfrm>
              <a:off x="4128" y="3840"/>
              <a:ext cx="288" cy="0"/>
            </a:xfrm>
            <a:prstGeom prst="line">
              <a:avLst/>
            </a:prstGeom>
            <a:noFill/>
            <a:ln w="9525">
              <a:solidFill>
                <a:schemeClr val="tx1"/>
              </a:solidFill>
              <a:round/>
              <a:headEnd/>
              <a:tailEnd type="triangle" w="med" len="med"/>
            </a:ln>
          </p:spPr>
          <p:txBody>
            <a:bodyPr/>
            <a:lstStyle/>
            <a:p>
              <a:endParaRPr lang="en-US"/>
            </a:p>
          </p:txBody>
        </p:sp>
        <p:sp>
          <p:nvSpPr>
            <p:cNvPr id="33" name="Line 32"/>
            <p:cNvSpPr>
              <a:spLocks noChangeShapeType="1"/>
            </p:cNvSpPr>
            <p:nvPr/>
          </p:nvSpPr>
          <p:spPr bwMode="auto">
            <a:xfrm>
              <a:off x="4848" y="3840"/>
              <a:ext cx="288" cy="0"/>
            </a:xfrm>
            <a:prstGeom prst="line">
              <a:avLst/>
            </a:prstGeom>
            <a:noFill/>
            <a:ln w="9525">
              <a:solidFill>
                <a:schemeClr val="tx1"/>
              </a:solidFill>
              <a:round/>
              <a:headEnd/>
              <a:tailEnd type="triangle" w="med" len="med"/>
            </a:ln>
          </p:spPr>
          <p:txBody>
            <a:bodyPr/>
            <a:lstStyle/>
            <a:p>
              <a:endParaRPr lang="en-US"/>
            </a:p>
          </p:txBody>
        </p:sp>
      </p:grpSp>
      <p:sp>
        <p:nvSpPr>
          <p:cNvPr id="34" name="Text Box 33"/>
          <p:cNvSpPr txBox="1">
            <a:spLocks noChangeArrowheads="1"/>
          </p:cNvSpPr>
          <p:nvPr/>
        </p:nvSpPr>
        <p:spPr bwMode="auto">
          <a:xfrm>
            <a:off x="1016000" y="4258489"/>
            <a:ext cx="1219200" cy="366713"/>
          </a:xfrm>
          <a:prstGeom prst="rect">
            <a:avLst/>
          </a:prstGeom>
          <a:noFill/>
          <a:ln w="9525">
            <a:noFill/>
            <a:miter lim="800000"/>
            <a:headEnd/>
            <a:tailEnd/>
          </a:ln>
        </p:spPr>
        <p:txBody>
          <a:bodyPr>
            <a:spAutoFit/>
          </a:bodyPr>
          <a:lstStyle/>
          <a:p>
            <a:pPr>
              <a:spcBef>
                <a:spcPct val="50000"/>
              </a:spcBef>
            </a:pPr>
            <a:r>
              <a:rPr lang="en-US"/>
              <a:t>(a)</a:t>
            </a:r>
          </a:p>
        </p:txBody>
      </p:sp>
      <p:sp>
        <p:nvSpPr>
          <p:cNvPr id="35" name="Text Box 34"/>
          <p:cNvSpPr txBox="1">
            <a:spLocks noChangeArrowheads="1"/>
          </p:cNvSpPr>
          <p:nvPr/>
        </p:nvSpPr>
        <p:spPr bwMode="auto">
          <a:xfrm>
            <a:off x="1016000" y="5706289"/>
            <a:ext cx="1219200" cy="366713"/>
          </a:xfrm>
          <a:prstGeom prst="rect">
            <a:avLst/>
          </a:prstGeom>
          <a:noFill/>
          <a:ln w="9525">
            <a:noFill/>
            <a:miter lim="800000"/>
            <a:headEnd/>
            <a:tailEnd/>
          </a:ln>
        </p:spPr>
        <p:txBody>
          <a:bodyPr>
            <a:spAutoFit/>
          </a:bodyPr>
          <a:lstStyle/>
          <a:p>
            <a:pPr>
              <a:spcBef>
                <a:spcPct val="50000"/>
              </a:spcBef>
            </a:pPr>
            <a:r>
              <a:rPr lang="en-US"/>
              <a:t>(d)</a:t>
            </a:r>
          </a:p>
        </p:txBody>
      </p:sp>
      <p:sp>
        <p:nvSpPr>
          <p:cNvPr id="36" name="Text Box 35"/>
          <p:cNvSpPr txBox="1">
            <a:spLocks noChangeArrowheads="1"/>
          </p:cNvSpPr>
          <p:nvPr/>
        </p:nvSpPr>
        <p:spPr bwMode="auto">
          <a:xfrm>
            <a:off x="1016000" y="4729976"/>
            <a:ext cx="1219200" cy="366712"/>
          </a:xfrm>
          <a:prstGeom prst="rect">
            <a:avLst/>
          </a:prstGeom>
          <a:noFill/>
          <a:ln w="9525">
            <a:noFill/>
            <a:miter lim="800000"/>
            <a:headEnd/>
            <a:tailEnd/>
          </a:ln>
        </p:spPr>
        <p:txBody>
          <a:bodyPr>
            <a:spAutoFit/>
          </a:bodyPr>
          <a:lstStyle/>
          <a:p>
            <a:pPr>
              <a:spcBef>
                <a:spcPct val="50000"/>
              </a:spcBef>
            </a:pPr>
            <a:r>
              <a:rPr lang="en-US" dirty="0"/>
              <a:t>(b)</a:t>
            </a:r>
          </a:p>
        </p:txBody>
      </p:sp>
      <p:sp>
        <p:nvSpPr>
          <p:cNvPr id="37" name="Text Box 36"/>
          <p:cNvSpPr txBox="1">
            <a:spLocks noChangeArrowheads="1"/>
          </p:cNvSpPr>
          <p:nvPr/>
        </p:nvSpPr>
        <p:spPr bwMode="auto">
          <a:xfrm>
            <a:off x="1016000" y="5187176"/>
            <a:ext cx="1219200" cy="366712"/>
          </a:xfrm>
          <a:prstGeom prst="rect">
            <a:avLst/>
          </a:prstGeom>
          <a:noFill/>
          <a:ln w="9525">
            <a:noFill/>
            <a:miter lim="800000"/>
            <a:headEnd/>
            <a:tailEnd/>
          </a:ln>
        </p:spPr>
        <p:txBody>
          <a:bodyPr>
            <a:spAutoFit/>
          </a:bodyPr>
          <a:lstStyle/>
          <a:p>
            <a:pPr>
              <a:spcBef>
                <a:spcPct val="50000"/>
              </a:spcBef>
            </a:pPr>
            <a:r>
              <a:rPr lang="en-US"/>
              <a:t>(c)</a:t>
            </a:r>
          </a:p>
        </p:txBody>
      </p:sp>
      <p:sp>
        <p:nvSpPr>
          <p:cNvPr id="38" name="TextBox 37"/>
          <p:cNvSpPr txBox="1"/>
          <p:nvPr/>
        </p:nvSpPr>
        <p:spPr>
          <a:xfrm>
            <a:off x="1130664" y="3511732"/>
            <a:ext cx="4119013" cy="400110"/>
          </a:xfrm>
          <a:prstGeom prst="rect">
            <a:avLst/>
          </a:prstGeom>
          <a:noFill/>
        </p:spPr>
        <p:txBody>
          <a:bodyPr wrap="none" rtlCol="0">
            <a:spAutoFit/>
          </a:bodyPr>
          <a:lstStyle/>
          <a:p>
            <a:r>
              <a:rPr lang="en-US" sz="2000" b="1" dirty="0" smtClean="0"/>
              <a:t>LINKED REPRESENTATION OF QUEUE:</a:t>
            </a:r>
            <a:endParaRPr lang="en-US" sz="2000" b="1" dirty="0"/>
          </a:p>
        </p:txBody>
      </p:sp>
      <p:sp>
        <p:nvSpPr>
          <p:cNvPr id="39" name="Rectangle 38"/>
          <p:cNvSpPr/>
          <p:nvPr/>
        </p:nvSpPr>
        <p:spPr>
          <a:xfrm>
            <a:off x="1031966" y="248194"/>
            <a:ext cx="10321834" cy="65314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b="1" dirty="0" smtClean="0">
                <a:latin typeface="Casper Bold"/>
              </a:rPr>
              <a:t>Array/Sequential representation of queue</a:t>
            </a:r>
            <a:endParaRPr lang="en-US" altLang="en-US" sz="4000" b="1" dirty="0">
              <a:latin typeface="Casper Bold"/>
            </a:endParaRPr>
          </a:p>
        </p:txBody>
      </p:sp>
      <p:pic>
        <p:nvPicPr>
          <p:cNvPr id="95234" name="Picture 2"/>
          <p:cNvPicPr>
            <a:picLocks noGrp="1" noChangeAspect="1" noChangeArrowheads="1"/>
          </p:cNvPicPr>
          <p:nvPr>
            <p:ph idx="1"/>
          </p:nvPr>
        </p:nvPicPr>
        <p:blipFill>
          <a:blip r:embed="rId2" cstate="print">
            <a:lum bright="17000"/>
          </a:blip>
          <a:srcRect/>
          <a:stretch>
            <a:fillRect/>
          </a:stretch>
        </p:blipFill>
        <p:spPr bwMode="auto">
          <a:xfrm>
            <a:off x="4775200" y="1752600"/>
            <a:ext cx="7127037" cy="4495800"/>
          </a:xfrm>
          <a:prstGeom prst="rect">
            <a:avLst/>
          </a:prstGeom>
          <a:noFill/>
          <a:ln w="9525">
            <a:noFill/>
            <a:miter lim="800000"/>
            <a:headEnd/>
            <a:tailEnd/>
          </a:ln>
          <a:effectLst/>
        </p:spPr>
      </p:pic>
      <p:sp>
        <p:nvSpPr>
          <p:cNvPr id="4" name="Rectangle 3"/>
          <p:cNvSpPr/>
          <p:nvPr/>
        </p:nvSpPr>
        <p:spPr>
          <a:xfrm>
            <a:off x="0" y="2362201"/>
            <a:ext cx="4775200" cy="2086725"/>
          </a:xfrm>
          <a:prstGeom prst="rect">
            <a:avLst/>
          </a:prstGeom>
        </p:spPr>
        <p:txBody>
          <a:bodyPr wrap="square">
            <a:spAutoFit/>
          </a:bodyPr>
          <a:lstStyle/>
          <a:p>
            <a:pPr algn="just">
              <a:lnSpc>
                <a:spcPct val="90000"/>
              </a:lnSpc>
            </a:pPr>
            <a:r>
              <a:rPr lang="en-US" dirty="0" smtClean="0">
                <a:sym typeface="Wingdings" pitchFamily="2" charset="2"/>
              </a:rPr>
              <a:t> </a:t>
            </a:r>
            <a:r>
              <a:rPr lang="en-US" dirty="0" smtClean="0"/>
              <a:t>When an element is deleted from the queue, the value of  FRONT is increased by 1; this can be implemented by the assignment</a:t>
            </a:r>
          </a:p>
          <a:p>
            <a:pPr algn="just">
              <a:lnSpc>
                <a:spcPct val="90000"/>
              </a:lnSpc>
            </a:pPr>
            <a:r>
              <a:rPr lang="en-US" dirty="0" smtClean="0"/>
              <a:t>            FRONT := FRONT + 1</a:t>
            </a:r>
          </a:p>
          <a:p>
            <a:pPr algn="just">
              <a:lnSpc>
                <a:spcPct val="90000"/>
              </a:lnSpc>
            </a:pPr>
            <a:r>
              <a:rPr lang="en-US" dirty="0" smtClean="0">
                <a:sym typeface="Wingdings" pitchFamily="2" charset="2"/>
              </a:rPr>
              <a:t></a:t>
            </a:r>
            <a:r>
              <a:rPr lang="en-US" dirty="0" smtClean="0"/>
              <a:t>Similarly, whenever an element is added to the queue, the value of REAR is increased by 1; this can be implemented by the assignment </a:t>
            </a:r>
          </a:p>
          <a:p>
            <a:pPr algn="just">
              <a:lnSpc>
                <a:spcPct val="90000"/>
              </a:lnSpc>
            </a:pPr>
            <a:r>
              <a:rPr lang="en-US" dirty="0" smtClean="0"/>
              <a:t>                        REAR := REAR + 1</a:t>
            </a:r>
          </a:p>
        </p:txBody>
      </p:sp>
      <p:sp>
        <p:nvSpPr>
          <p:cNvPr id="5" name="Rectangle 4"/>
          <p:cNvSpPr/>
          <p:nvPr/>
        </p:nvSpPr>
        <p:spPr>
          <a:xfrm>
            <a:off x="838200" y="360362"/>
            <a:ext cx="10515600" cy="10634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D46C318-164B-47B9-A296-6A236DC11CED}"/>
              </a:ext>
            </a:extLst>
          </p:cNvPr>
          <p:cNvSpPr>
            <a:spLocks noGrp="1" noChangeArrowheads="1"/>
          </p:cNvSpPr>
          <p:nvPr>
            <p:ph type="title"/>
          </p:nvPr>
        </p:nvSpPr>
        <p:spPr/>
        <p:txBody>
          <a:bodyPr>
            <a:normAutofit/>
          </a:bodyPr>
          <a:lstStyle/>
          <a:p>
            <a:r>
              <a:rPr lang="en-US" altLang="en-US" sz="4800" b="1" dirty="0">
                <a:latin typeface="Casper Bold"/>
              </a:rPr>
              <a:t>Queues</a:t>
            </a:r>
          </a:p>
        </p:txBody>
      </p:sp>
      <p:sp>
        <p:nvSpPr>
          <p:cNvPr id="4099" name="Rectangle 3">
            <a:extLst>
              <a:ext uri="{FF2B5EF4-FFF2-40B4-BE49-F238E27FC236}">
                <a16:creationId xmlns:a16="http://schemas.microsoft.com/office/drawing/2014/main" id="{C9607605-4BD7-4FB2-8F5A-8A86415C8022}"/>
              </a:ext>
            </a:extLst>
          </p:cNvPr>
          <p:cNvSpPr>
            <a:spLocks noGrp="1" noChangeArrowheads="1"/>
          </p:cNvSpPr>
          <p:nvPr>
            <p:ph type="body" idx="1"/>
          </p:nvPr>
        </p:nvSpPr>
        <p:spPr/>
        <p:txBody>
          <a:bodyPr/>
          <a:lstStyle/>
          <a:p>
            <a:r>
              <a:rPr lang="en-US" altLang="en-US" i="1"/>
              <a:t>Enque</a:t>
            </a:r>
            <a:endParaRPr lang="en-US" altLang="en-US"/>
          </a:p>
          <a:p>
            <a:pPr lvl="1"/>
            <a:r>
              <a:rPr lang="en-US" altLang="en-US"/>
              <a:t>operation to place a new item at the tail of the queue</a:t>
            </a:r>
          </a:p>
          <a:p>
            <a:r>
              <a:rPr lang="en-US" altLang="en-US" i="1"/>
              <a:t>Dequeue</a:t>
            </a:r>
          </a:p>
          <a:p>
            <a:pPr lvl="1"/>
            <a:r>
              <a:rPr lang="en-US" altLang="en-US"/>
              <a:t>operation to remove the next item from the head of the queue</a:t>
            </a:r>
          </a:p>
        </p:txBody>
      </p:sp>
      <p:sp>
        <p:nvSpPr>
          <p:cNvPr id="4" name="Rectangle 3"/>
          <p:cNvSpPr/>
          <p:nvPr/>
        </p:nvSpPr>
        <p:spPr>
          <a:xfrm>
            <a:off x="838200" y="360362"/>
            <a:ext cx="10515600" cy="10634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a:extLst>
              <a:ext uri="{FF2B5EF4-FFF2-40B4-BE49-F238E27FC236}">
                <a16:creationId xmlns:a16="http://schemas.microsoft.com/office/drawing/2014/main" id="{E35BABF0-86B3-47BE-9009-0DB71538CDFC}"/>
              </a:ext>
            </a:extLst>
          </p:cNvPr>
          <p:cNvSpPr>
            <a:spLocks noGrp="1" noChangeArrowheads="1"/>
          </p:cNvSpPr>
          <p:nvPr>
            <p:ph type="title"/>
          </p:nvPr>
        </p:nvSpPr>
        <p:spPr>
          <a:xfrm>
            <a:off x="877389" y="404949"/>
            <a:ext cx="10515600" cy="809897"/>
          </a:xfrm>
        </p:spPr>
        <p:txBody>
          <a:bodyPr>
            <a:normAutofit/>
          </a:bodyPr>
          <a:lstStyle/>
          <a:p>
            <a:r>
              <a:rPr lang="en-US" altLang="en-US" sz="4800" b="1" dirty="0">
                <a:latin typeface="Casper Bold"/>
              </a:rPr>
              <a:t>Queue</a:t>
            </a:r>
          </a:p>
        </p:txBody>
      </p:sp>
      <p:sp>
        <p:nvSpPr>
          <p:cNvPr id="5125" name="Rectangle 5">
            <a:extLst>
              <a:ext uri="{FF2B5EF4-FFF2-40B4-BE49-F238E27FC236}">
                <a16:creationId xmlns:a16="http://schemas.microsoft.com/office/drawing/2014/main" id="{FA721955-B8AA-4C83-B4F0-981023BDB68A}"/>
              </a:ext>
            </a:extLst>
          </p:cNvPr>
          <p:cNvSpPr>
            <a:spLocks noChangeArrowheads="1"/>
          </p:cNvSpPr>
          <p:nvPr/>
        </p:nvSpPr>
        <p:spPr bwMode="auto">
          <a:xfrm>
            <a:off x="1752600" y="2133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26" name="Text Box 6">
            <a:extLst>
              <a:ext uri="{FF2B5EF4-FFF2-40B4-BE49-F238E27FC236}">
                <a16:creationId xmlns:a16="http://schemas.microsoft.com/office/drawing/2014/main" id="{C4F5D1A9-0359-46E3-9161-4C4F699C39EB}"/>
              </a:ext>
            </a:extLst>
          </p:cNvPr>
          <p:cNvSpPr txBox="1">
            <a:spLocks noChangeArrowheads="1"/>
          </p:cNvSpPr>
          <p:nvPr/>
        </p:nvSpPr>
        <p:spPr bwMode="auto">
          <a:xfrm>
            <a:off x="1905000" y="2286000"/>
            <a:ext cx="3048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X</a:t>
            </a:r>
          </a:p>
        </p:txBody>
      </p:sp>
      <p:sp>
        <p:nvSpPr>
          <p:cNvPr id="5129" name="Rectangle 9">
            <a:extLst>
              <a:ext uri="{FF2B5EF4-FFF2-40B4-BE49-F238E27FC236}">
                <a16:creationId xmlns:a16="http://schemas.microsoft.com/office/drawing/2014/main" id="{1DF5EADA-CA56-4D7F-B934-B8E5F16921C4}"/>
              </a:ext>
            </a:extLst>
          </p:cNvPr>
          <p:cNvSpPr>
            <a:spLocks noChangeArrowheads="1"/>
          </p:cNvSpPr>
          <p:nvPr/>
        </p:nvSpPr>
        <p:spPr bwMode="auto">
          <a:xfrm>
            <a:off x="2438400" y="2133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0" name="Text Box 10">
            <a:extLst>
              <a:ext uri="{FF2B5EF4-FFF2-40B4-BE49-F238E27FC236}">
                <a16:creationId xmlns:a16="http://schemas.microsoft.com/office/drawing/2014/main" id="{42B982A1-1A34-4D50-ADDA-BE48311C0A09}"/>
              </a:ext>
            </a:extLst>
          </p:cNvPr>
          <p:cNvSpPr txBox="1">
            <a:spLocks noChangeArrowheads="1"/>
          </p:cNvSpPr>
          <p:nvPr/>
        </p:nvSpPr>
        <p:spPr bwMode="auto">
          <a:xfrm>
            <a:off x="2590800" y="2286000"/>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a:t>
            </a:r>
          </a:p>
        </p:txBody>
      </p:sp>
      <p:sp>
        <p:nvSpPr>
          <p:cNvPr id="5132" name="Rectangle 12">
            <a:extLst>
              <a:ext uri="{FF2B5EF4-FFF2-40B4-BE49-F238E27FC236}">
                <a16:creationId xmlns:a16="http://schemas.microsoft.com/office/drawing/2014/main" id="{E00BD38A-D672-4583-8C17-2AA090272BD2}"/>
              </a:ext>
            </a:extLst>
          </p:cNvPr>
          <p:cNvSpPr>
            <a:spLocks noChangeArrowheads="1"/>
          </p:cNvSpPr>
          <p:nvPr/>
        </p:nvSpPr>
        <p:spPr bwMode="auto">
          <a:xfrm>
            <a:off x="3124200" y="2133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3" name="Text Box 13">
            <a:extLst>
              <a:ext uri="{FF2B5EF4-FFF2-40B4-BE49-F238E27FC236}">
                <a16:creationId xmlns:a16="http://schemas.microsoft.com/office/drawing/2014/main" id="{02982A1D-18ED-4623-82F5-753E0D1646D9}"/>
              </a:ext>
            </a:extLst>
          </p:cNvPr>
          <p:cNvSpPr txBox="1">
            <a:spLocks noChangeArrowheads="1"/>
          </p:cNvSpPr>
          <p:nvPr/>
        </p:nvSpPr>
        <p:spPr bwMode="auto">
          <a:xfrm>
            <a:off x="3276600" y="2286000"/>
            <a:ext cx="3818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a:t>
            </a:r>
          </a:p>
        </p:txBody>
      </p:sp>
      <p:sp>
        <p:nvSpPr>
          <p:cNvPr id="5135" name="Rectangle 15">
            <a:extLst>
              <a:ext uri="{FF2B5EF4-FFF2-40B4-BE49-F238E27FC236}">
                <a16:creationId xmlns:a16="http://schemas.microsoft.com/office/drawing/2014/main" id="{CDFFAC4B-8908-4956-83AE-44AEB619736D}"/>
              </a:ext>
            </a:extLst>
          </p:cNvPr>
          <p:cNvSpPr>
            <a:spLocks noChangeArrowheads="1"/>
          </p:cNvSpPr>
          <p:nvPr/>
        </p:nvSpPr>
        <p:spPr bwMode="auto">
          <a:xfrm>
            <a:off x="3810000" y="2133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8" name="Rectangle 18">
            <a:extLst>
              <a:ext uri="{FF2B5EF4-FFF2-40B4-BE49-F238E27FC236}">
                <a16:creationId xmlns:a16="http://schemas.microsoft.com/office/drawing/2014/main" id="{CD4C7F68-7A12-4D9D-ABBD-745427C7A7CB}"/>
              </a:ext>
            </a:extLst>
          </p:cNvPr>
          <p:cNvSpPr>
            <a:spLocks noChangeArrowheads="1"/>
          </p:cNvSpPr>
          <p:nvPr/>
        </p:nvSpPr>
        <p:spPr bwMode="auto">
          <a:xfrm>
            <a:off x="4495800" y="2133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40" name="Line 20">
            <a:extLst>
              <a:ext uri="{FF2B5EF4-FFF2-40B4-BE49-F238E27FC236}">
                <a16:creationId xmlns:a16="http://schemas.microsoft.com/office/drawing/2014/main" id="{27DDDE59-DD4A-447F-A87F-BFDAC3F3552D}"/>
              </a:ext>
            </a:extLst>
          </p:cNvPr>
          <p:cNvSpPr>
            <a:spLocks noChangeShapeType="1"/>
          </p:cNvSpPr>
          <p:nvPr/>
        </p:nvSpPr>
        <p:spPr bwMode="auto">
          <a:xfrm>
            <a:off x="2057400" y="16002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41" name="Text Box 21">
            <a:extLst>
              <a:ext uri="{FF2B5EF4-FFF2-40B4-BE49-F238E27FC236}">
                <a16:creationId xmlns:a16="http://schemas.microsoft.com/office/drawing/2014/main" id="{6914DAB3-CDE4-42BA-9939-E8A1C8E21C90}"/>
              </a:ext>
            </a:extLst>
          </p:cNvPr>
          <p:cNvSpPr txBox="1">
            <a:spLocks noChangeArrowheads="1"/>
          </p:cNvSpPr>
          <p:nvPr/>
        </p:nvSpPr>
        <p:spPr bwMode="auto">
          <a:xfrm>
            <a:off x="1752600" y="1219201"/>
            <a:ext cx="62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start</a:t>
            </a:r>
          </a:p>
        </p:txBody>
      </p:sp>
      <p:sp>
        <p:nvSpPr>
          <p:cNvPr id="5142" name="Line 22">
            <a:extLst>
              <a:ext uri="{FF2B5EF4-FFF2-40B4-BE49-F238E27FC236}">
                <a16:creationId xmlns:a16="http://schemas.microsoft.com/office/drawing/2014/main" id="{83964BA7-4BDD-4996-B5D1-FF27F1625D9C}"/>
              </a:ext>
            </a:extLst>
          </p:cNvPr>
          <p:cNvSpPr>
            <a:spLocks noChangeShapeType="1"/>
          </p:cNvSpPr>
          <p:nvPr/>
        </p:nvSpPr>
        <p:spPr bwMode="auto">
          <a:xfrm>
            <a:off x="3505200" y="16002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43" name="Text Box 23">
            <a:extLst>
              <a:ext uri="{FF2B5EF4-FFF2-40B4-BE49-F238E27FC236}">
                <a16:creationId xmlns:a16="http://schemas.microsoft.com/office/drawing/2014/main" id="{B7667AF7-5991-4B0E-BA1C-FFC6E66BEBF9}"/>
              </a:ext>
            </a:extLst>
          </p:cNvPr>
          <p:cNvSpPr txBox="1">
            <a:spLocks noChangeArrowheads="1"/>
          </p:cNvSpPr>
          <p:nvPr/>
        </p:nvSpPr>
        <p:spPr bwMode="auto">
          <a:xfrm>
            <a:off x="3200400" y="1219201"/>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end</a:t>
            </a:r>
          </a:p>
        </p:txBody>
      </p:sp>
      <p:sp>
        <p:nvSpPr>
          <p:cNvPr id="5144" name="Rectangle 24">
            <a:extLst>
              <a:ext uri="{FF2B5EF4-FFF2-40B4-BE49-F238E27FC236}">
                <a16:creationId xmlns:a16="http://schemas.microsoft.com/office/drawing/2014/main" id="{7125F086-60D4-4270-8A55-93CEB6E9DF4B}"/>
              </a:ext>
            </a:extLst>
          </p:cNvPr>
          <p:cNvSpPr>
            <a:spLocks noChangeArrowheads="1"/>
          </p:cNvSpPr>
          <p:nvPr/>
        </p:nvSpPr>
        <p:spPr bwMode="auto">
          <a:xfrm>
            <a:off x="1752600" y="5181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45" name="Text Box 25">
            <a:extLst>
              <a:ext uri="{FF2B5EF4-FFF2-40B4-BE49-F238E27FC236}">
                <a16:creationId xmlns:a16="http://schemas.microsoft.com/office/drawing/2014/main" id="{45BDE4C7-4D98-4C8A-8AF9-C4541C59F9D7}"/>
              </a:ext>
            </a:extLst>
          </p:cNvPr>
          <p:cNvSpPr txBox="1">
            <a:spLocks noChangeArrowheads="1"/>
          </p:cNvSpPr>
          <p:nvPr/>
        </p:nvSpPr>
        <p:spPr bwMode="auto">
          <a:xfrm>
            <a:off x="1905000" y="5334000"/>
            <a:ext cx="3048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X</a:t>
            </a:r>
          </a:p>
        </p:txBody>
      </p:sp>
      <p:sp>
        <p:nvSpPr>
          <p:cNvPr id="5146" name="Rectangle 26">
            <a:extLst>
              <a:ext uri="{FF2B5EF4-FFF2-40B4-BE49-F238E27FC236}">
                <a16:creationId xmlns:a16="http://schemas.microsoft.com/office/drawing/2014/main" id="{2E87FC37-A1C2-46A4-863E-9F402348DB7A}"/>
              </a:ext>
            </a:extLst>
          </p:cNvPr>
          <p:cNvSpPr>
            <a:spLocks noChangeArrowheads="1"/>
          </p:cNvSpPr>
          <p:nvPr/>
        </p:nvSpPr>
        <p:spPr bwMode="auto">
          <a:xfrm>
            <a:off x="2438400" y="5181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47" name="Text Box 27">
            <a:extLst>
              <a:ext uri="{FF2B5EF4-FFF2-40B4-BE49-F238E27FC236}">
                <a16:creationId xmlns:a16="http://schemas.microsoft.com/office/drawing/2014/main" id="{584CAECB-F0B4-4407-B23D-59DEA9F382E5}"/>
              </a:ext>
            </a:extLst>
          </p:cNvPr>
          <p:cNvSpPr txBox="1">
            <a:spLocks noChangeArrowheads="1"/>
          </p:cNvSpPr>
          <p:nvPr/>
        </p:nvSpPr>
        <p:spPr bwMode="auto">
          <a:xfrm>
            <a:off x="2590800" y="5334000"/>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a:t>
            </a:r>
          </a:p>
        </p:txBody>
      </p:sp>
      <p:sp>
        <p:nvSpPr>
          <p:cNvPr id="5148" name="Rectangle 28">
            <a:extLst>
              <a:ext uri="{FF2B5EF4-FFF2-40B4-BE49-F238E27FC236}">
                <a16:creationId xmlns:a16="http://schemas.microsoft.com/office/drawing/2014/main" id="{320AB4F5-123A-4F99-861E-8544F4DD1387}"/>
              </a:ext>
            </a:extLst>
          </p:cNvPr>
          <p:cNvSpPr>
            <a:spLocks noChangeArrowheads="1"/>
          </p:cNvSpPr>
          <p:nvPr/>
        </p:nvSpPr>
        <p:spPr bwMode="auto">
          <a:xfrm>
            <a:off x="3124200" y="5181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49" name="Text Box 29">
            <a:extLst>
              <a:ext uri="{FF2B5EF4-FFF2-40B4-BE49-F238E27FC236}">
                <a16:creationId xmlns:a16="http://schemas.microsoft.com/office/drawing/2014/main" id="{7A102552-1FD2-4704-A3F6-F50CB27CDFC3}"/>
              </a:ext>
            </a:extLst>
          </p:cNvPr>
          <p:cNvSpPr txBox="1">
            <a:spLocks noChangeArrowheads="1"/>
          </p:cNvSpPr>
          <p:nvPr/>
        </p:nvSpPr>
        <p:spPr bwMode="auto">
          <a:xfrm>
            <a:off x="3276600" y="5334000"/>
            <a:ext cx="3818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a:t>
            </a:r>
          </a:p>
        </p:txBody>
      </p:sp>
      <p:sp>
        <p:nvSpPr>
          <p:cNvPr id="5150" name="Rectangle 30">
            <a:extLst>
              <a:ext uri="{FF2B5EF4-FFF2-40B4-BE49-F238E27FC236}">
                <a16:creationId xmlns:a16="http://schemas.microsoft.com/office/drawing/2014/main" id="{0693FF1B-E6EE-43B6-98BD-63B75888B6AC}"/>
              </a:ext>
            </a:extLst>
          </p:cNvPr>
          <p:cNvSpPr>
            <a:spLocks noChangeArrowheads="1"/>
          </p:cNvSpPr>
          <p:nvPr/>
        </p:nvSpPr>
        <p:spPr bwMode="auto">
          <a:xfrm>
            <a:off x="3810000" y="5181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51" name="Rectangle 31">
            <a:extLst>
              <a:ext uri="{FF2B5EF4-FFF2-40B4-BE49-F238E27FC236}">
                <a16:creationId xmlns:a16="http://schemas.microsoft.com/office/drawing/2014/main" id="{FFA6896F-85B1-4EF9-8A31-240854784ED1}"/>
              </a:ext>
            </a:extLst>
          </p:cNvPr>
          <p:cNvSpPr>
            <a:spLocks noChangeArrowheads="1"/>
          </p:cNvSpPr>
          <p:nvPr/>
        </p:nvSpPr>
        <p:spPr bwMode="auto">
          <a:xfrm>
            <a:off x="4495800" y="51816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52" name="Line 32">
            <a:extLst>
              <a:ext uri="{FF2B5EF4-FFF2-40B4-BE49-F238E27FC236}">
                <a16:creationId xmlns:a16="http://schemas.microsoft.com/office/drawing/2014/main" id="{57E4B272-0C7E-469B-8071-A174987E92D7}"/>
              </a:ext>
            </a:extLst>
          </p:cNvPr>
          <p:cNvSpPr>
            <a:spLocks noChangeShapeType="1"/>
          </p:cNvSpPr>
          <p:nvPr/>
        </p:nvSpPr>
        <p:spPr bwMode="auto">
          <a:xfrm>
            <a:off x="2057400" y="46482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53" name="Text Box 33">
            <a:extLst>
              <a:ext uri="{FF2B5EF4-FFF2-40B4-BE49-F238E27FC236}">
                <a16:creationId xmlns:a16="http://schemas.microsoft.com/office/drawing/2014/main" id="{DF199C52-D7B8-4668-AF1C-BFB4E0D7C950}"/>
              </a:ext>
            </a:extLst>
          </p:cNvPr>
          <p:cNvSpPr txBox="1">
            <a:spLocks noChangeArrowheads="1"/>
          </p:cNvSpPr>
          <p:nvPr/>
        </p:nvSpPr>
        <p:spPr bwMode="auto">
          <a:xfrm>
            <a:off x="1752600" y="4267201"/>
            <a:ext cx="62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start</a:t>
            </a:r>
          </a:p>
        </p:txBody>
      </p:sp>
      <p:sp>
        <p:nvSpPr>
          <p:cNvPr id="5154" name="Line 34">
            <a:extLst>
              <a:ext uri="{FF2B5EF4-FFF2-40B4-BE49-F238E27FC236}">
                <a16:creationId xmlns:a16="http://schemas.microsoft.com/office/drawing/2014/main" id="{3F9ADD67-0F5A-4D0D-A873-5FE21E548453}"/>
              </a:ext>
            </a:extLst>
          </p:cNvPr>
          <p:cNvSpPr>
            <a:spLocks noChangeShapeType="1"/>
          </p:cNvSpPr>
          <p:nvPr/>
        </p:nvSpPr>
        <p:spPr bwMode="auto">
          <a:xfrm>
            <a:off x="4191000" y="46482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55" name="Text Box 35">
            <a:extLst>
              <a:ext uri="{FF2B5EF4-FFF2-40B4-BE49-F238E27FC236}">
                <a16:creationId xmlns:a16="http://schemas.microsoft.com/office/drawing/2014/main" id="{069D66F0-1E1A-4D80-8C4D-3BD92A7F7B3B}"/>
              </a:ext>
            </a:extLst>
          </p:cNvPr>
          <p:cNvSpPr txBox="1">
            <a:spLocks noChangeArrowheads="1"/>
          </p:cNvSpPr>
          <p:nvPr/>
        </p:nvSpPr>
        <p:spPr bwMode="auto">
          <a:xfrm>
            <a:off x="3886200" y="4267201"/>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end</a:t>
            </a:r>
          </a:p>
        </p:txBody>
      </p:sp>
      <p:sp>
        <p:nvSpPr>
          <p:cNvPr id="5156" name="Rectangle 36">
            <a:extLst>
              <a:ext uri="{FF2B5EF4-FFF2-40B4-BE49-F238E27FC236}">
                <a16:creationId xmlns:a16="http://schemas.microsoft.com/office/drawing/2014/main" id="{49CAB72C-5DCE-47F1-8AD0-C01959B99BC7}"/>
              </a:ext>
            </a:extLst>
          </p:cNvPr>
          <p:cNvSpPr>
            <a:spLocks noChangeArrowheads="1"/>
          </p:cNvSpPr>
          <p:nvPr/>
        </p:nvSpPr>
        <p:spPr bwMode="auto">
          <a:xfrm>
            <a:off x="7010400" y="52578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58" name="Rectangle 38">
            <a:extLst>
              <a:ext uri="{FF2B5EF4-FFF2-40B4-BE49-F238E27FC236}">
                <a16:creationId xmlns:a16="http://schemas.microsoft.com/office/drawing/2014/main" id="{6A6BAA0C-0759-4642-8E3C-7CA62B9BC687}"/>
              </a:ext>
            </a:extLst>
          </p:cNvPr>
          <p:cNvSpPr>
            <a:spLocks noChangeArrowheads="1"/>
          </p:cNvSpPr>
          <p:nvPr/>
        </p:nvSpPr>
        <p:spPr bwMode="auto">
          <a:xfrm>
            <a:off x="7696200" y="52578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59" name="Text Box 39">
            <a:extLst>
              <a:ext uri="{FF2B5EF4-FFF2-40B4-BE49-F238E27FC236}">
                <a16:creationId xmlns:a16="http://schemas.microsoft.com/office/drawing/2014/main" id="{EABA8A4F-4C99-45FC-8BB8-3BCB56EBE4B6}"/>
              </a:ext>
            </a:extLst>
          </p:cNvPr>
          <p:cNvSpPr txBox="1">
            <a:spLocks noChangeArrowheads="1"/>
          </p:cNvSpPr>
          <p:nvPr/>
        </p:nvSpPr>
        <p:spPr bwMode="auto">
          <a:xfrm>
            <a:off x="7848600" y="5410200"/>
            <a:ext cx="3177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a:t>
            </a:r>
          </a:p>
        </p:txBody>
      </p:sp>
      <p:sp>
        <p:nvSpPr>
          <p:cNvPr id="5160" name="Rectangle 40">
            <a:extLst>
              <a:ext uri="{FF2B5EF4-FFF2-40B4-BE49-F238E27FC236}">
                <a16:creationId xmlns:a16="http://schemas.microsoft.com/office/drawing/2014/main" id="{A81A4D05-83CC-4420-B493-E04EE4EB1277}"/>
              </a:ext>
            </a:extLst>
          </p:cNvPr>
          <p:cNvSpPr>
            <a:spLocks noChangeArrowheads="1"/>
          </p:cNvSpPr>
          <p:nvPr/>
        </p:nvSpPr>
        <p:spPr bwMode="auto">
          <a:xfrm>
            <a:off x="8382000" y="52578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61" name="Text Box 41">
            <a:extLst>
              <a:ext uri="{FF2B5EF4-FFF2-40B4-BE49-F238E27FC236}">
                <a16:creationId xmlns:a16="http://schemas.microsoft.com/office/drawing/2014/main" id="{478F7734-9D78-4778-91A7-AB5D11A0B371}"/>
              </a:ext>
            </a:extLst>
          </p:cNvPr>
          <p:cNvSpPr txBox="1">
            <a:spLocks noChangeArrowheads="1"/>
          </p:cNvSpPr>
          <p:nvPr/>
        </p:nvSpPr>
        <p:spPr bwMode="auto">
          <a:xfrm>
            <a:off x="8534400" y="5410200"/>
            <a:ext cx="3818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a:t>
            </a:r>
          </a:p>
        </p:txBody>
      </p:sp>
      <p:sp>
        <p:nvSpPr>
          <p:cNvPr id="5162" name="Rectangle 42">
            <a:extLst>
              <a:ext uri="{FF2B5EF4-FFF2-40B4-BE49-F238E27FC236}">
                <a16:creationId xmlns:a16="http://schemas.microsoft.com/office/drawing/2014/main" id="{CCF1A747-7CAA-4879-BCD5-FD2D256DBFC2}"/>
              </a:ext>
            </a:extLst>
          </p:cNvPr>
          <p:cNvSpPr>
            <a:spLocks noChangeArrowheads="1"/>
          </p:cNvSpPr>
          <p:nvPr/>
        </p:nvSpPr>
        <p:spPr bwMode="auto">
          <a:xfrm>
            <a:off x="9067800" y="52578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63" name="Rectangle 43">
            <a:extLst>
              <a:ext uri="{FF2B5EF4-FFF2-40B4-BE49-F238E27FC236}">
                <a16:creationId xmlns:a16="http://schemas.microsoft.com/office/drawing/2014/main" id="{48443A37-0A0B-4613-ABC3-91F783D0733C}"/>
              </a:ext>
            </a:extLst>
          </p:cNvPr>
          <p:cNvSpPr>
            <a:spLocks noChangeArrowheads="1"/>
          </p:cNvSpPr>
          <p:nvPr/>
        </p:nvSpPr>
        <p:spPr bwMode="auto">
          <a:xfrm>
            <a:off x="9753600" y="5257800"/>
            <a:ext cx="6858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64" name="Line 44">
            <a:extLst>
              <a:ext uri="{FF2B5EF4-FFF2-40B4-BE49-F238E27FC236}">
                <a16:creationId xmlns:a16="http://schemas.microsoft.com/office/drawing/2014/main" id="{9C276F6F-31F4-4A36-8B20-5D9923E6EDE5}"/>
              </a:ext>
            </a:extLst>
          </p:cNvPr>
          <p:cNvSpPr>
            <a:spLocks noChangeShapeType="1"/>
          </p:cNvSpPr>
          <p:nvPr/>
        </p:nvSpPr>
        <p:spPr bwMode="auto">
          <a:xfrm>
            <a:off x="8077200" y="47244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65" name="Text Box 45">
            <a:extLst>
              <a:ext uri="{FF2B5EF4-FFF2-40B4-BE49-F238E27FC236}">
                <a16:creationId xmlns:a16="http://schemas.microsoft.com/office/drawing/2014/main" id="{4A346ADD-01D1-411B-9526-CE739BC9F2FC}"/>
              </a:ext>
            </a:extLst>
          </p:cNvPr>
          <p:cNvSpPr txBox="1">
            <a:spLocks noChangeArrowheads="1"/>
          </p:cNvSpPr>
          <p:nvPr/>
        </p:nvSpPr>
        <p:spPr bwMode="auto">
          <a:xfrm>
            <a:off x="7772400" y="4343401"/>
            <a:ext cx="62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start</a:t>
            </a:r>
          </a:p>
        </p:txBody>
      </p:sp>
      <p:sp>
        <p:nvSpPr>
          <p:cNvPr id="5168" name="AutoShape 48">
            <a:extLst>
              <a:ext uri="{FF2B5EF4-FFF2-40B4-BE49-F238E27FC236}">
                <a16:creationId xmlns:a16="http://schemas.microsoft.com/office/drawing/2014/main" id="{21081A12-E0FC-4C34-9EFA-0C265A3A8309}"/>
              </a:ext>
            </a:extLst>
          </p:cNvPr>
          <p:cNvSpPr>
            <a:spLocks noChangeArrowheads="1"/>
          </p:cNvSpPr>
          <p:nvPr/>
        </p:nvSpPr>
        <p:spPr bwMode="auto">
          <a:xfrm>
            <a:off x="2820989" y="3198814"/>
            <a:ext cx="384175" cy="1216025"/>
          </a:xfrm>
          <a:prstGeom prst="downArrow">
            <a:avLst>
              <a:gd name="adj1" fmla="val 50000"/>
              <a:gd name="adj2" fmla="val 79132"/>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69" name="AutoShape 49">
            <a:extLst>
              <a:ext uri="{FF2B5EF4-FFF2-40B4-BE49-F238E27FC236}">
                <a16:creationId xmlns:a16="http://schemas.microsoft.com/office/drawing/2014/main" id="{E23E7D99-5683-419C-B348-85A8C6BEF6C2}"/>
              </a:ext>
            </a:extLst>
          </p:cNvPr>
          <p:cNvSpPr>
            <a:spLocks noChangeArrowheads="1"/>
          </p:cNvSpPr>
          <p:nvPr/>
        </p:nvSpPr>
        <p:spPr bwMode="auto">
          <a:xfrm>
            <a:off x="5486400" y="5410200"/>
            <a:ext cx="1295400" cy="304800"/>
          </a:xfrm>
          <a:prstGeom prst="rightArrow">
            <a:avLst>
              <a:gd name="adj1" fmla="val 50000"/>
              <a:gd name="adj2" fmla="val 1062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70" name="Text Box 50">
            <a:extLst>
              <a:ext uri="{FF2B5EF4-FFF2-40B4-BE49-F238E27FC236}">
                <a16:creationId xmlns:a16="http://schemas.microsoft.com/office/drawing/2014/main" id="{9D3DD204-AB0D-43E7-BBC2-745C14616A7C}"/>
              </a:ext>
            </a:extLst>
          </p:cNvPr>
          <p:cNvSpPr txBox="1">
            <a:spLocks noChangeArrowheads="1"/>
          </p:cNvSpPr>
          <p:nvPr/>
        </p:nvSpPr>
        <p:spPr bwMode="auto">
          <a:xfrm>
            <a:off x="3200400" y="3505200"/>
            <a:ext cx="12650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enqueue(F)</a:t>
            </a:r>
          </a:p>
        </p:txBody>
      </p:sp>
      <p:sp>
        <p:nvSpPr>
          <p:cNvPr id="5171" name="Text Box 51">
            <a:extLst>
              <a:ext uri="{FF2B5EF4-FFF2-40B4-BE49-F238E27FC236}">
                <a16:creationId xmlns:a16="http://schemas.microsoft.com/office/drawing/2014/main" id="{2CDD37FA-88E4-477C-B533-6E36F3B5ED1C}"/>
              </a:ext>
            </a:extLst>
          </p:cNvPr>
          <p:cNvSpPr txBox="1">
            <a:spLocks noChangeArrowheads="1"/>
          </p:cNvSpPr>
          <p:nvPr/>
        </p:nvSpPr>
        <p:spPr bwMode="auto">
          <a:xfrm>
            <a:off x="3962400" y="5334000"/>
            <a:ext cx="2904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a:t>
            </a:r>
          </a:p>
        </p:txBody>
      </p:sp>
      <p:sp>
        <p:nvSpPr>
          <p:cNvPr id="5172" name="Text Box 52">
            <a:extLst>
              <a:ext uri="{FF2B5EF4-FFF2-40B4-BE49-F238E27FC236}">
                <a16:creationId xmlns:a16="http://schemas.microsoft.com/office/drawing/2014/main" id="{0D2EBC0C-02A2-41D4-B159-A3F96F0440AD}"/>
              </a:ext>
            </a:extLst>
          </p:cNvPr>
          <p:cNvSpPr txBox="1">
            <a:spLocks noChangeArrowheads="1"/>
          </p:cNvSpPr>
          <p:nvPr/>
        </p:nvSpPr>
        <p:spPr bwMode="auto">
          <a:xfrm>
            <a:off x="5181601" y="5715001"/>
            <a:ext cx="18076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item = dequeue()</a:t>
            </a:r>
          </a:p>
          <a:p>
            <a:r>
              <a:rPr lang="en-US" altLang="en-US"/>
              <a:t>item = X</a:t>
            </a:r>
          </a:p>
        </p:txBody>
      </p:sp>
      <p:sp>
        <p:nvSpPr>
          <p:cNvPr id="5174" name="Line 54">
            <a:extLst>
              <a:ext uri="{FF2B5EF4-FFF2-40B4-BE49-F238E27FC236}">
                <a16:creationId xmlns:a16="http://schemas.microsoft.com/office/drawing/2014/main" id="{ED6C3DDD-FDD4-44D1-B22D-0200DA4CA5DC}"/>
              </a:ext>
            </a:extLst>
          </p:cNvPr>
          <p:cNvSpPr>
            <a:spLocks noChangeShapeType="1"/>
          </p:cNvSpPr>
          <p:nvPr/>
        </p:nvSpPr>
        <p:spPr bwMode="auto">
          <a:xfrm>
            <a:off x="9448800" y="47244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75" name="Text Box 55">
            <a:extLst>
              <a:ext uri="{FF2B5EF4-FFF2-40B4-BE49-F238E27FC236}">
                <a16:creationId xmlns:a16="http://schemas.microsoft.com/office/drawing/2014/main" id="{78F25651-09E3-4756-98E1-B24B463BCEC2}"/>
              </a:ext>
            </a:extLst>
          </p:cNvPr>
          <p:cNvSpPr txBox="1">
            <a:spLocks noChangeArrowheads="1"/>
          </p:cNvSpPr>
          <p:nvPr/>
        </p:nvSpPr>
        <p:spPr bwMode="auto">
          <a:xfrm>
            <a:off x="9144000" y="4343401"/>
            <a:ext cx="565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end</a:t>
            </a:r>
          </a:p>
        </p:txBody>
      </p:sp>
      <p:sp>
        <p:nvSpPr>
          <p:cNvPr id="5176" name="Text Box 56">
            <a:extLst>
              <a:ext uri="{FF2B5EF4-FFF2-40B4-BE49-F238E27FC236}">
                <a16:creationId xmlns:a16="http://schemas.microsoft.com/office/drawing/2014/main" id="{0266787D-4E81-4B3C-9035-DCC0DB4AA7EC}"/>
              </a:ext>
            </a:extLst>
          </p:cNvPr>
          <p:cNvSpPr txBox="1">
            <a:spLocks noChangeArrowheads="1"/>
          </p:cNvSpPr>
          <p:nvPr/>
        </p:nvSpPr>
        <p:spPr bwMode="auto">
          <a:xfrm>
            <a:off x="9220200" y="5410200"/>
            <a:ext cx="2904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a:t>
            </a:r>
          </a:p>
        </p:txBody>
      </p:sp>
      <p:sp>
        <p:nvSpPr>
          <p:cNvPr id="44" name="Rectangle 43"/>
          <p:cNvSpPr/>
          <p:nvPr/>
        </p:nvSpPr>
        <p:spPr>
          <a:xfrm>
            <a:off x="838200" y="360362"/>
            <a:ext cx="10515600" cy="82835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304800"/>
            <a:ext cx="10566400" cy="609600"/>
          </a:xfrm>
        </p:spPr>
        <p:txBody>
          <a:bodyPr>
            <a:noAutofit/>
          </a:bodyPr>
          <a:lstStyle/>
          <a:p>
            <a:r>
              <a:rPr lang="en-US" sz="4000" b="1" dirty="0" smtClean="0">
                <a:latin typeface="Casper Bold"/>
              </a:rPr>
              <a:t>Algorithm for Insertion into a Queue</a:t>
            </a:r>
            <a:endParaRPr lang="en-US" sz="4000" b="1" dirty="0">
              <a:latin typeface="Casper Bold"/>
            </a:endParaRPr>
          </a:p>
        </p:txBody>
      </p:sp>
      <p:sp>
        <p:nvSpPr>
          <p:cNvPr id="3" name="Content Placeholder 2"/>
          <p:cNvSpPr>
            <a:spLocks noGrp="1"/>
          </p:cNvSpPr>
          <p:nvPr>
            <p:ph idx="1"/>
          </p:nvPr>
        </p:nvSpPr>
        <p:spPr>
          <a:xfrm>
            <a:off x="1219200" y="888275"/>
            <a:ext cx="10668000" cy="2481942"/>
          </a:xfrm>
        </p:spPr>
        <p:txBody>
          <a:bodyPr>
            <a:noAutofit/>
          </a:bodyPr>
          <a:lstStyle/>
          <a:p>
            <a:pPr>
              <a:lnSpc>
                <a:spcPct val="100000"/>
              </a:lnSpc>
              <a:spcBef>
                <a:spcPts val="0"/>
              </a:spcBef>
              <a:buNone/>
            </a:pPr>
            <a:r>
              <a:rPr lang="en-US" sz="1900" dirty="0" smtClean="0"/>
              <a:t>1. If REAR=MAX then: write: Overflow &amp; Exit</a:t>
            </a:r>
          </a:p>
          <a:p>
            <a:pPr>
              <a:lnSpc>
                <a:spcPct val="100000"/>
              </a:lnSpc>
              <a:spcBef>
                <a:spcPts val="0"/>
              </a:spcBef>
              <a:buNone/>
            </a:pPr>
            <a:r>
              <a:rPr lang="en-US" sz="1900" dirty="0" smtClean="0"/>
              <a:t>2. Read ITEM</a:t>
            </a:r>
          </a:p>
          <a:p>
            <a:pPr>
              <a:lnSpc>
                <a:spcPct val="100000"/>
              </a:lnSpc>
              <a:spcBef>
                <a:spcPts val="0"/>
              </a:spcBef>
              <a:buNone/>
            </a:pPr>
            <a:r>
              <a:rPr lang="en-US" sz="1900" dirty="0" smtClean="0"/>
              <a:t>	If FRONT=0 then:</a:t>
            </a:r>
          </a:p>
          <a:p>
            <a:pPr>
              <a:lnSpc>
                <a:spcPct val="100000"/>
              </a:lnSpc>
              <a:spcBef>
                <a:spcPts val="0"/>
              </a:spcBef>
              <a:buNone/>
            </a:pPr>
            <a:r>
              <a:rPr lang="en-US" sz="1900" dirty="0" smtClean="0"/>
              <a:t>		a) FRONT=FRONT+1</a:t>
            </a:r>
          </a:p>
          <a:p>
            <a:pPr>
              <a:lnSpc>
                <a:spcPct val="100000"/>
              </a:lnSpc>
              <a:spcBef>
                <a:spcPts val="0"/>
              </a:spcBef>
              <a:buNone/>
            </a:pPr>
            <a:r>
              <a:rPr lang="en-US" sz="1900" dirty="0" smtClean="0"/>
              <a:t>		b) REAR=REAR+1</a:t>
            </a:r>
          </a:p>
          <a:p>
            <a:pPr>
              <a:lnSpc>
                <a:spcPct val="100000"/>
              </a:lnSpc>
              <a:spcBef>
                <a:spcPts val="0"/>
              </a:spcBef>
              <a:buNone/>
            </a:pPr>
            <a:r>
              <a:rPr lang="en-US" sz="1900" dirty="0" smtClean="0"/>
              <a:t>		c) Q[REAR]=ITEM</a:t>
            </a:r>
          </a:p>
          <a:p>
            <a:pPr>
              <a:lnSpc>
                <a:spcPct val="100000"/>
              </a:lnSpc>
              <a:spcBef>
                <a:spcPts val="0"/>
              </a:spcBef>
              <a:buNone/>
            </a:pPr>
            <a:r>
              <a:rPr lang="en-US" sz="1900" dirty="0" smtClean="0"/>
              <a:t>	else</a:t>
            </a:r>
          </a:p>
          <a:p>
            <a:pPr>
              <a:lnSpc>
                <a:spcPct val="100000"/>
              </a:lnSpc>
              <a:spcBef>
                <a:spcPts val="0"/>
              </a:spcBef>
              <a:buNone/>
            </a:pPr>
            <a:r>
              <a:rPr lang="en-US" sz="1900" dirty="0" smtClean="0"/>
              <a:t>		REAR=REAR+1</a:t>
            </a:r>
          </a:p>
          <a:p>
            <a:pPr>
              <a:lnSpc>
                <a:spcPct val="100000"/>
              </a:lnSpc>
              <a:spcBef>
                <a:spcPts val="0"/>
              </a:spcBef>
              <a:buNone/>
            </a:pPr>
            <a:r>
              <a:rPr lang="en-US" sz="1900" dirty="0" smtClean="0"/>
              <a:t>		Q[REAR]=ITEM</a:t>
            </a:r>
          </a:p>
          <a:p>
            <a:pPr>
              <a:lnSpc>
                <a:spcPct val="100000"/>
              </a:lnSpc>
              <a:spcBef>
                <a:spcPts val="0"/>
              </a:spcBef>
              <a:buNone/>
            </a:pPr>
            <a:r>
              <a:rPr lang="en-US" sz="1900" dirty="0" smtClean="0"/>
              <a:t>3.  Exit</a:t>
            </a:r>
            <a:endParaRPr lang="en-US" sz="1900" dirty="0"/>
          </a:p>
        </p:txBody>
      </p:sp>
      <p:graphicFrame>
        <p:nvGraphicFramePr>
          <p:cNvPr id="4" name="Group 20"/>
          <p:cNvGraphicFramePr>
            <a:graphicFrameLocks/>
          </p:cNvGraphicFramePr>
          <p:nvPr>
            <p:extLst>
              <p:ext uri="{D42A27DB-BD31-4B8C-83A1-F6EECF244321}">
                <p14:modId xmlns:p14="http://schemas.microsoft.com/office/powerpoint/2010/main" val="376625642"/>
              </p:ext>
            </p:extLst>
          </p:nvPr>
        </p:nvGraphicFramePr>
        <p:xfrm>
          <a:off x="7112000" y="3921359"/>
          <a:ext cx="3962399" cy="380787"/>
        </p:xfrm>
        <a:graphic>
          <a:graphicData uri="http://schemas.openxmlformats.org/drawingml/2006/table">
            <a:tbl>
              <a:tblPr/>
              <a:tblGrid>
                <a:gridCol w="791633">
                  <a:extLst>
                    <a:ext uri="{9D8B030D-6E8A-4147-A177-3AD203B41FA5}">
                      <a16:colId xmlns:a16="http://schemas.microsoft.com/office/drawing/2014/main" val="20000"/>
                    </a:ext>
                  </a:extLst>
                </a:gridCol>
                <a:gridCol w="793751">
                  <a:extLst>
                    <a:ext uri="{9D8B030D-6E8A-4147-A177-3AD203B41FA5}">
                      <a16:colId xmlns:a16="http://schemas.microsoft.com/office/drawing/2014/main" val="20001"/>
                    </a:ext>
                  </a:extLst>
                </a:gridCol>
                <a:gridCol w="791633">
                  <a:extLst>
                    <a:ext uri="{9D8B030D-6E8A-4147-A177-3AD203B41FA5}">
                      <a16:colId xmlns:a16="http://schemas.microsoft.com/office/drawing/2014/main" val="20002"/>
                    </a:ext>
                  </a:extLst>
                </a:gridCol>
                <a:gridCol w="793749">
                  <a:extLst>
                    <a:ext uri="{9D8B030D-6E8A-4147-A177-3AD203B41FA5}">
                      <a16:colId xmlns:a16="http://schemas.microsoft.com/office/drawing/2014/main" val="20003"/>
                    </a:ext>
                  </a:extLst>
                </a:gridCol>
                <a:gridCol w="791633">
                  <a:extLst>
                    <a:ext uri="{9D8B030D-6E8A-4147-A177-3AD203B41FA5}">
                      <a16:colId xmlns:a16="http://schemas.microsoft.com/office/drawing/2014/main" val="20004"/>
                    </a:ext>
                  </a:extLst>
                </a:gridCol>
              </a:tblGrid>
              <a:tr h="3807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extLst>
                  <a:ext uri="{0D108BD9-81ED-4DB2-BD59-A6C34878D82A}">
                    <a16:rowId xmlns:a16="http://schemas.microsoft.com/office/drawing/2014/main" val="10000"/>
                  </a:ext>
                </a:extLst>
              </a:tr>
            </a:tbl>
          </a:graphicData>
        </a:graphic>
      </p:graphicFrame>
      <p:sp>
        <p:nvSpPr>
          <p:cNvPr id="5" name="Text Box 5"/>
          <p:cNvSpPr txBox="1">
            <a:spLocks noChangeArrowheads="1"/>
          </p:cNvSpPr>
          <p:nvPr/>
        </p:nvSpPr>
        <p:spPr bwMode="auto">
          <a:xfrm>
            <a:off x="317863" y="3864433"/>
            <a:ext cx="7010400" cy="701731"/>
          </a:xfrm>
          <a:prstGeom prst="rect">
            <a:avLst/>
          </a:prstGeom>
          <a:noFill/>
          <a:ln w="9525">
            <a:noFill/>
            <a:miter lim="800000"/>
            <a:headEnd/>
            <a:tailEnd/>
          </a:ln>
        </p:spPr>
        <p:txBody>
          <a:bodyPr wrap="square">
            <a:spAutoFit/>
          </a:bodyPr>
          <a:lstStyle/>
          <a:p>
            <a:pPr marL="342900" indent="-342900">
              <a:spcBef>
                <a:spcPct val="20000"/>
              </a:spcBef>
              <a:buFontTx/>
              <a:buAutoNum type="alphaLcParenBoth"/>
            </a:pPr>
            <a:r>
              <a:rPr lang="en-US" dirty="0"/>
              <a:t>Initially empty :		</a:t>
            </a:r>
            <a:r>
              <a:rPr lang="en-US" dirty="0" smtClean="0"/>
              <a:t>	FRONT </a:t>
            </a:r>
            <a:r>
              <a:rPr lang="en-US" dirty="0"/>
              <a:t>: 0</a:t>
            </a:r>
          </a:p>
          <a:p>
            <a:pPr marL="342900" indent="-342900">
              <a:spcBef>
                <a:spcPct val="20000"/>
              </a:spcBef>
            </a:pPr>
            <a:r>
              <a:rPr lang="en-US" dirty="0"/>
              <a:t>				 	REAR :   0</a:t>
            </a:r>
          </a:p>
        </p:txBody>
      </p:sp>
      <p:sp>
        <p:nvSpPr>
          <p:cNvPr id="6" name="Text Box 22"/>
          <p:cNvSpPr txBox="1">
            <a:spLocks noChangeArrowheads="1"/>
          </p:cNvSpPr>
          <p:nvPr/>
        </p:nvSpPr>
        <p:spPr bwMode="auto">
          <a:xfrm>
            <a:off x="7010400" y="4330342"/>
            <a:ext cx="3962400" cy="369332"/>
          </a:xfrm>
          <a:prstGeom prst="rect">
            <a:avLst/>
          </a:prstGeom>
          <a:noFill/>
          <a:ln w="9525">
            <a:noFill/>
            <a:miter lim="800000"/>
            <a:headEnd/>
            <a:tailEnd/>
          </a:ln>
        </p:spPr>
        <p:txBody>
          <a:bodyPr wrap="square">
            <a:spAutoFit/>
          </a:bodyPr>
          <a:lstStyle/>
          <a:p>
            <a:pPr>
              <a:spcBef>
                <a:spcPct val="50000"/>
              </a:spcBef>
            </a:pPr>
            <a:r>
              <a:rPr lang="en-US" dirty="0" smtClean="0"/>
              <a:t>    1          </a:t>
            </a:r>
            <a:r>
              <a:rPr lang="en-US" dirty="0"/>
              <a:t>2        3       </a:t>
            </a:r>
            <a:r>
              <a:rPr lang="en-US" dirty="0" smtClean="0"/>
              <a:t>  4        </a:t>
            </a:r>
            <a:r>
              <a:rPr lang="en-US" dirty="0"/>
              <a:t>5</a:t>
            </a:r>
          </a:p>
        </p:txBody>
      </p:sp>
      <p:sp>
        <p:nvSpPr>
          <p:cNvPr id="7" name="Text Box 23"/>
          <p:cNvSpPr txBox="1">
            <a:spLocks noChangeArrowheads="1"/>
          </p:cNvSpPr>
          <p:nvPr/>
        </p:nvSpPr>
        <p:spPr bwMode="auto">
          <a:xfrm>
            <a:off x="8331200" y="3557457"/>
            <a:ext cx="2336800" cy="369332"/>
          </a:xfrm>
          <a:prstGeom prst="rect">
            <a:avLst/>
          </a:prstGeom>
          <a:noFill/>
          <a:ln w="9525">
            <a:noFill/>
            <a:miter lim="800000"/>
            <a:headEnd/>
            <a:tailEnd/>
          </a:ln>
        </p:spPr>
        <p:txBody>
          <a:bodyPr wrap="square">
            <a:spAutoFit/>
          </a:bodyPr>
          <a:lstStyle/>
          <a:p>
            <a:pPr>
              <a:spcBef>
                <a:spcPct val="50000"/>
              </a:spcBef>
            </a:pPr>
            <a:r>
              <a:rPr lang="en-US" dirty="0"/>
              <a:t>QUEUE</a:t>
            </a:r>
          </a:p>
        </p:txBody>
      </p:sp>
      <p:sp>
        <p:nvSpPr>
          <p:cNvPr id="8" name="Text Box 24"/>
          <p:cNvSpPr txBox="1">
            <a:spLocks noChangeArrowheads="1"/>
          </p:cNvSpPr>
          <p:nvPr/>
        </p:nvSpPr>
        <p:spPr bwMode="auto">
          <a:xfrm>
            <a:off x="317863" y="4752708"/>
            <a:ext cx="7010400" cy="701731"/>
          </a:xfrm>
          <a:prstGeom prst="rect">
            <a:avLst/>
          </a:prstGeom>
          <a:noFill/>
          <a:ln w="9525">
            <a:noFill/>
            <a:miter lim="800000"/>
            <a:headEnd/>
            <a:tailEnd/>
          </a:ln>
        </p:spPr>
        <p:txBody>
          <a:bodyPr wrap="square">
            <a:spAutoFit/>
          </a:bodyPr>
          <a:lstStyle/>
          <a:p>
            <a:pPr marL="342900" indent="-342900">
              <a:spcBef>
                <a:spcPct val="20000"/>
              </a:spcBef>
            </a:pPr>
            <a:r>
              <a:rPr lang="en-US" dirty="0"/>
              <a:t>(b)	A, B and then C inserted:	</a:t>
            </a:r>
            <a:r>
              <a:rPr lang="en-US" dirty="0" smtClean="0"/>
              <a:t>	FRONT </a:t>
            </a:r>
            <a:r>
              <a:rPr lang="en-US" dirty="0"/>
              <a:t>: 1</a:t>
            </a:r>
          </a:p>
          <a:p>
            <a:pPr marL="342900" indent="-342900">
              <a:spcBef>
                <a:spcPct val="20000"/>
              </a:spcBef>
            </a:pPr>
            <a:r>
              <a:rPr lang="en-US" dirty="0"/>
              <a:t>				 	REAR :   3</a:t>
            </a:r>
          </a:p>
        </p:txBody>
      </p:sp>
      <p:sp>
        <p:nvSpPr>
          <p:cNvPr id="9" name="Text Box 25"/>
          <p:cNvSpPr txBox="1">
            <a:spLocks noChangeArrowheads="1"/>
          </p:cNvSpPr>
          <p:nvPr/>
        </p:nvSpPr>
        <p:spPr bwMode="auto">
          <a:xfrm>
            <a:off x="304800" y="5473343"/>
            <a:ext cx="7010400" cy="701731"/>
          </a:xfrm>
          <a:prstGeom prst="rect">
            <a:avLst/>
          </a:prstGeom>
          <a:noFill/>
          <a:ln w="9525">
            <a:noFill/>
            <a:miter lim="800000"/>
            <a:headEnd/>
            <a:tailEnd/>
          </a:ln>
        </p:spPr>
        <p:txBody>
          <a:bodyPr wrap="square">
            <a:spAutoFit/>
          </a:bodyPr>
          <a:lstStyle/>
          <a:p>
            <a:pPr marL="342900" indent="-342900">
              <a:spcBef>
                <a:spcPct val="20000"/>
              </a:spcBef>
            </a:pPr>
            <a:r>
              <a:rPr lang="en-US" dirty="0"/>
              <a:t>(C) A deleted :             		FRONT : 2</a:t>
            </a:r>
          </a:p>
          <a:p>
            <a:pPr marL="342900" indent="-342900">
              <a:spcBef>
                <a:spcPct val="20000"/>
              </a:spcBef>
            </a:pPr>
            <a:r>
              <a:rPr lang="en-US" dirty="0"/>
              <a:t>				 	REAR :   3</a:t>
            </a:r>
          </a:p>
        </p:txBody>
      </p:sp>
      <p:sp>
        <p:nvSpPr>
          <p:cNvPr id="10" name="Text Box 26"/>
          <p:cNvSpPr txBox="1">
            <a:spLocks noChangeArrowheads="1"/>
          </p:cNvSpPr>
          <p:nvPr/>
        </p:nvSpPr>
        <p:spPr bwMode="auto">
          <a:xfrm>
            <a:off x="304800" y="6080538"/>
            <a:ext cx="7010400" cy="701731"/>
          </a:xfrm>
          <a:prstGeom prst="rect">
            <a:avLst/>
          </a:prstGeom>
          <a:noFill/>
          <a:ln w="9525">
            <a:noFill/>
            <a:miter lim="800000"/>
            <a:headEnd/>
            <a:tailEnd/>
          </a:ln>
        </p:spPr>
        <p:txBody>
          <a:bodyPr wrap="square">
            <a:spAutoFit/>
          </a:bodyPr>
          <a:lstStyle/>
          <a:p>
            <a:pPr marL="342900" indent="-342900">
              <a:spcBef>
                <a:spcPct val="20000"/>
              </a:spcBef>
            </a:pPr>
            <a:r>
              <a:rPr lang="en-US"/>
              <a:t>(d) D and then E inserted :		FRONT : 2</a:t>
            </a:r>
          </a:p>
          <a:p>
            <a:pPr marL="342900" indent="-342900">
              <a:spcBef>
                <a:spcPct val="20000"/>
              </a:spcBef>
            </a:pPr>
            <a:r>
              <a:rPr lang="en-US"/>
              <a:t>				 	REAR :   5</a:t>
            </a:r>
          </a:p>
        </p:txBody>
      </p:sp>
      <p:graphicFrame>
        <p:nvGraphicFramePr>
          <p:cNvPr id="11" name="Group 76"/>
          <p:cNvGraphicFramePr>
            <a:graphicFrameLocks noGrp="1"/>
          </p:cNvGraphicFramePr>
          <p:nvPr>
            <p:extLst>
              <p:ext uri="{D42A27DB-BD31-4B8C-83A1-F6EECF244321}">
                <p14:modId xmlns:p14="http://schemas.microsoft.com/office/powerpoint/2010/main" val="3364144993"/>
              </p:ext>
            </p:extLst>
          </p:nvPr>
        </p:nvGraphicFramePr>
        <p:xfrm>
          <a:off x="7092951" y="4864063"/>
          <a:ext cx="3962399" cy="380787"/>
        </p:xfrm>
        <a:graphic>
          <a:graphicData uri="http://schemas.openxmlformats.org/drawingml/2006/table">
            <a:tbl>
              <a:tblPr/>
              <a:tblGrid>
                <a:gridCol w="791633">
                  <a:extLst>
                    <a:ext uri="{9D8B030D-6E8A-4147-A177-3AD203B41FA5}">
                      <a16:colId xmlns:a16="http://schemas.microsoft.com/office/drawing/2014/main" val="20000"/>
                    </a:ext>
                  </a:extLst>
                </a:gridCol>
                <a:gridCol w="793749">
                  <a:extLst>
                    <a:ext uri="{9D8B030D-6E8A-4147-A177-3AD203B41FA5}">
                      <a16:colId xmlns:a16="http://schemas.microsoft.com/office/drawing/2014/main" val="20001"/>
                    </a:ext>
                  </a:extLst>
                </a:gridCol>
                <a:gridCol w="791633">
                  <a:extLst>
                    <a:ext uri="{9D8B030D-6E8A-4147-A177-3AD203B41FA5}">
                      <a16:colId xmlns:a16="http://schemas.microsoft.com/office/drawing/2014/main" val="20002"/>
                    </a:ext>
                  </a:extLst>
                </a:gridCol>
                <a:gridCol w="793751">
                  <a:extLst>
                    <a:ext uri="{9D8B030D-6E8A-4147-A177-3AD203B41FA5}">
                      <a16:colId xmlns:a16="http://schemas.microsoft.com/office/drawing/2014/main" val="20003"/>
                    </a:ext>
                  </a:extLst>
                </a:gridCol>
                <a:gridCol w="791633">
                  <a:extLst>
                    <a:ext uri="{9D8B030D-6E8A-4147-A177-3AD203B41FA5}">
                      <a16:colId xmlns:a16="http://schemas.microsoft.com/office/drawing/2014/main" val="20004"/>
                    </a:ext>
                  </a:extLst>
                </a:gridCol>
              </a:tblGrid>
              <a:tr h="3807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A</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B</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C</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extLst>
                  <a:ext uri="{0D108BD9-81ED-4DB2-BD59-A6C34878D82A}">
                    <a16:rowId xmlns:a16="http://schemas.microsoft.com/office/drawing/2014/main" val="10000"/>
                  </a:ext>
                </a:extLst>
              </a:tr>
            </a:tbl>
          </a:graphicData>
        </a:graphic>
      </p:graphicFrame>
      <p:graphicFrame>
        <p:nvGraphicFramePr>
          <p:cNvPr id="12" name="Group 92"/>
          <p:cNvGraphicFramePr>
            <a:graphicFrameLocks noGrp="1"/>
          </p:cNvGraphicFramePr>
          <p:nvPr>
            <p:extLst>
              <p:ext uri="{D42A27DB-BD31-4B8C-83A1-F6EECF244321}">
                <p14:modId xmlns:p14="http://schemas.microsoft.com/office/powerpoint/2010/main" val="2370974022"/>
              </p:ext>
            </p:extLst>
          </p:nvPr>
        </p:nvGraphicFramePr>
        <p:xfrm>
          <a:off x="7092951" y="5602115"/>
          <a:ext cx="3962399" cy="380787"/>
        </p:xfrm>
        <a:graphic>
          <a:graphicData uri="http://schemas.openxmlformats.org/drawingml/2006/table">
            <a:tbl>
              <a:tblPr/>
              <a:tblGrid>
                <a:gridCol w="791633">
                  <a:extLst>
                    <a:ext uri="{9D8B030D-6E8A-4147-A177-3AD203B41FA5}">
                      <a16:colId xmlns:a16="http://schemas.microsoft.com/office/drawing/2014/main" val="20000"/>
                    </a:ext>
                  </a:extLst>
                </a:gridCol>
                <a:gridCol w="793749">
                  <a:extLst>
                    <a:ext uri="{9D8B030D-6E8A-4147-A177-3AD203B41FA5}">
                      <a16:colId xmlns:a16="http://schemas.microsoft.com/office/drawing/2014/main" val="20001"/>
                    </a:ext>
                  </a:extLst>
                </a:gridCol>
                <a:gridCol w="791633">
                  <a:extLst>
                    <a:ext uri="{9D8B030D-6E8A-4147-A177-3AD203B41FA5}">
                      <a16:colId xmlns:a16="http://schemas.microsoft.com/office/drawing/2014/main" val="20002"/>
                    </a:ext>
                  </a:extLst>
                </a:gridCol>
                <a:gridCol w="793751">
                  <a:extLst>
                    <a:ext uri="{9D8B030D-6E8A-4147-A177-3AD203B41FA5}">
                      <a16:colId xmlns:a16="http://schemas.microsoft.com/office/drawing/2014/main" val="20003"/>
                    </a:ext>
                  </a:extLst>
                </a:gridCol>
                <a:gridCol w="791633">
                  <a:extLst>
                    <a:ext uri="{9D8B030D-6E8A-4147-A177-3AD203B41FA5}">
                      <a16:colId xmlns:a16="http://schemas.microsoft.com/office/drawing/2014/main" val="20004"/>
                    </a:ext>
                  </a:extLst>
                </a:gridCol>
              </a:tblGrid>
              <a:tr h="3807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B</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C</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extLst>
                  <a:ext uri="{0D108BD9-81ED-4DB2-BD59-A6C34878D82A}">
                    <a16:rowId xmlns:a16="http://schemas.microsoft.com/office/drawing/2014/main" val="10000"/>
                  </a:ext>
                </a:extLst>
              </a:tr>
            </a:tbl>
          </a:graphicData>
        </a:graphic>
      </p:graphicFrame>
      <p:graphicFrame>
        <p:nvGraphicFramePr>
          <p:cNvPr id="13" name="Group 108"/>
          <p:cNvGraphicFramePr>
            <a:graphicFrameLocks noGrp="1"/>
          </p:cNvGraphicFramePr>
          <p:nvPr>
            <p:extLst>
              <p:ext uri="{D42A27DB-BD31-4B8C-83A1-F6EECF244321}">
                <p14:modId xmlns:p14="http://schemas.microsoft.com/office/powerpoint/2010/main" val="100108595"/>
              </p:ext>
            </p:extLst>
          </p:nvPr>
        </p:nvGraphicFramePr>
        <p:xfrm>
          <a:off x="7112000" y="6315899"/>
          <a:ext cx="3962399" cy="380787"/>
        </p:xfrm>
        <a:graphic>
          <a:graphicData uri="http://schemas.openxmlformats.org/drawingml/2006/table">
            <a:tbl>
              <a:tblPr/>
              <a:tblGrid>
                <a:gridCol w="791633">
                  <a:extLst>
                    <a:ext uri="{9D8B030D-6E8A-4147-A177-3AD203B41FA5}">
                      <a16:colId xmlns:a16="http://schemas.microsoft.com/office/drawing/2014/main" val="20000"/>
                    </a:ext>
                  </a:extLst>
                </a:gridCol>
                <a:gridCol w="793751">
                  <a:extLst>
                    <a:ext uri="{9D8B030D-6E8A-4147-A177-3AD203B41FA5}">
                      <a16:colId xmlns:a16="http://schemas.microsoft.com/office/drawing/2014/main" val="20001"/>
                    </a:ext>
                  </a:extLst>
                </a:gridCol>
                <a:gridCol w="791633">
                  <a:extLst>
                    <a:ext uri="{9D8B030D-6E8A-4147-A177-3AD203B41FA5}">
                      <a16:colId xmlns:a16="http://schemas.microsoft.com/office/drawing/2014/main" val="20002"/>
                    </a:ext>
                  </a:extLst>
                </a:gridCol>
                <a:gridCol w="793749">
                  <a:extLst>
                    <a:ext uri="{9D8B030D-6E8A-4147-A177-3AD203B41FA5}">
                      <a16:colId xmlns:a16="http://schemas.microsoft.com/office/drawing/2014/main" val="20003"/>
                    </a:ext>
                  </a:extLst>
                </a:gridCol>
                <a:gridCol w="791633">
                  <a:extLst>
                    <a:ext uri="{9D8B030D-6E8A-4147-A177-3AD203B41FA5}">
                      <a16:colId xmlns:a16="http://schemas.microsoft.com/office/drawing/2014/main" val="20004"/>
                    </a:ext>
                  </a:extLst>
                </a:gridCol>
              </a:tblGrid>
              <a:tr h="3807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B</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C</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D</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charset="0"/>
                          <a:cs typeface="Arial" charset="0"/>
                        </a:rPr>
                        <a:t>E</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EECFC"/>
                    </a:solidFill>
                  </a:tcPr>
                </a:tc>
                <a:extLst>
                  <a:ext uri="{0D108BD9-81ED-4DB2-BD59-A6C34878D82A}">
                    <a16:rowId xmlns:a16="http://schemas.microsoft.com/office/drawing/2014/main" val="10000"/>
                  </a:ext>
                </a:extLst>
              </a:tr>
            </a:tbl>
          </a:graphicData>
        </a:graphic>
      </p:graphicFrame>
      <p:sp>
        <p:nvSpPr>
          <p:cNvPr id="14" name="Rectangle 13"/>
          <p:cNvSpPr/>
          <p:nvPr/>
        </p:nvSpPr>
        <p:spPr>
          <a:xfrm>
            <a:off x="838200" y="274320"/>
            <a:ext cx="10515600" cy="60089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Casper Bold"/>
              </a:rPr>
              <a:t>Algorithm for deletion from a Queue</a:t>
            </a:r>
            <a:endParaRPr lang="en-US" sz="4800" b="1" dirty="0">
              <a:latin typeface="Casper Bold"/>
            </a:endParaRPr>
          </a:p>
        </p:txBody>
      </p:sp>
      <p:sp>
        <p:nvSpPr>
          <p:cNvPr id="3" name="Content Placeholder 2"/>
          <p:cNvSpPr>
            <a:spLocks noGrp="1"/>
          </p:cNvSpPr>
          <p:nvPr>
            <p:ph idx="1"/>
          </p:nvPr>
        </p:nvSpPr>
        <p:spPr/>
        <p:txBody>
          <a:bodyPr>
            <a:normAutofit/>
          </a:bodyPr>
          <a:lstStyle/>
          <a:p>
            <a:r>
              <a:rPr lang="en-US" sz="1800" dirty="0" smtClean="0"/>
              <a:t>If FRONT=0 then: write: “UNDERFLOW and Exit”</a:t>
            </a:r>
          </a:p>
          <a:p>
            <a:r>
              <a:rPr lang="en-US" sz="1800" dirty="0" smtClean="0"/>
              <a:t>If FRONT=REAR, then:</a:t>
            </a:r>
          </a:p>
          <a:p>
            <a:pPr>
              <a:buNone/>
            </a:pPr>
            <a:r>
              <a:rPr lang="en-US" sz="1800" dirty="0" smtClean="0"/>
              <a:t>		Q[FRONT]=NULL</a:t>
            </a:r>
          </a:p>
          <a:p>
            <a:pPr>
              <a:buNone/>
            </a:pPr>
            <a:r>
              <a:rPr lang="en-US" sz="1800" dirty="0" smtClean="0"/>
              <a:t>		FRONT=0</a:t>
            </a:r>
          </a:p>
          <a:p>
            <a:pPr>
              <a:buNone/>
            </a:pPr>
            <a:r>
              <a:rPr lang="en-US" sz="1800" dirty="0" smtClean="0"/>
              <a:t>		REAR=0</a:t>
            </a:r>
          </a:p>
          <a:p>
            <a:pPr>
              <a:buNone/>
            </a:pPr>
            <a:r>
              <a:rPr lang="en-US" sz="1800" dirty="0" smtClean="0"/>
              <a:t>	else</a:t>
            </a:r>
          </a:p>
          <a:p>
            <a:pPr>
              <a:buNone/>
            </a:pPr>
            <a:r>
              <a:rPr lang="en-US" sz="1800" dirty="0" smtClean="0"/>
              <a:t>		Q[FRONT]=NULL</a:t>
            </a:r>
          </a:p>
          <a:p>
            <a:pPr>
              <a:buNone/>
            </a:pPr>
            <a:r>
              <a:rPr lang="en-US" sz="1800" dirty="0" smtClean="0"/>
              <a:t>		FRONT=FRONT+1</a:t>
            </a:r>
          </a:p>
          <a:p>
            <a:r>
              <a:rPr lang="en-US" sz="1800" dirty="0" smtClean="0"/>
              <a:t>Exit</a:t>
            </a:r>
            <a:endParaRPr lang="en-US" sz="1800" dirty="0"/>
          </a:p>
        </p:txBody>
      </p:sp>
      <p:sp>
        <p:nvSpPr>
          <p:cNvPr id="4" name="Rectangle 3"/>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smtClean="0">
                <a:latin typeface="Casper Bold"/>
              </a:rPr>
              <a:t>Limitations of linear Queue</a:t>
            </a:r>
            <a:endParaRPr lang="en-US" sz="4800" b="1" dirty="0">
              <a:latin typeface="Casper Bold"/>
            </a:endParaRPr>
          </a:p>
        </p:txBody>
      </p:sp>
      <p:sp>
        <p:nvSpPr>
          <p:cNvPr id="3" name="Content Placeholder 2"/>
          <p:cNvSpPr>
            <a:spLocks noGrp="1"/>
          </p:cNvSpPr>
          <p:nvPr>
            <p:ph idx="1"/>
          </p:nvPr>
        </p:nvSpPr>
        <p:spPr/>
        <p:txBody>
          <a:bodyPr/>
          <a:lstStyle/>
          <a:p>
            <a:pPr algn="just"/>
            <a:r>
              <a:rPr lang="en-US" dirty="0" smtClean="0"/>
              <a:t>When an element is removed from linear queue, the location remains unused.  Even if the queue is empty, new elements cannot be inserted. To avoid this, consider queue as a circle, having the last element immediately following the first element.</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C04EB-A770-46FE-BB45-ECC8AD2AEDC4}"/>
              </a:ext>
            </a:extLst>
          </p:cNvPr>
          <p:cNvSpPr>
            <a:spLocks noGrp="1"/>
          </p:cNvSpPr>
          <p:nvPr>
            <p:ph type="title"/>
          </p:nvPr>
        </p:nvSpPr>
        <p:spPr/>
        <p:txBody>
          <a:bodyPr>
            <a:normAutofit/>
          </a:bodyPr>
          <a:lstStyle/>
          <a:p>
            <a:r>
              <a:rPr lang="en-US" sz="4800" b="1" dirty="0">
                <a:latin typeface="Casper Bold"/>
              </a:rPr>
              <a:t>Circular Queue</a:t>
            </a:r>
            <a:endParaRPr lang="en-IN" sz="4800" b="1" dirty="0">
              <a:latin typeface="Casper Bold"/>
            </a:endParaRPr>
          </a:p>
        </p:txBody>
      </p:sp>
      <p:sp>
        <p:nvSpPr>
          <p:cNvPr id="3" name="Content Placeholder 2">
            <a:extLst>
              <a:ext uri="{FF2B5EF4-FFF2-40B4-BE49-F238E27FC236}">
                <a16:creationId xmlns:a16="http://schemas.microsoft.com/office/drawing/2014/main" id="{84D9F122-94EF-4BB0-A7B5-7D29EDCEDBEF}"/>
              </a:ext>
            </a:extLst>
          </p:cNvPr>
          <p:cNvSpPr>
            <a:spLocks noGrp="1"/>
          </p:cNvSpPr>
          <p:nvPr>
            <p:ph idx="1"/>
          </p:nvPr>
        </p:nvSpPr>
        <p:spPr/>
        <p:txBody>
          <a:bodyPr/>
          <a:lstStyle/>
          <a:p>
            <a:r>
              <a:rPr lang="en-US" dirty="0"/>
              <a:t>Circular queue is a linear data structure in which the operations are performed based on FIFO (First In First Out) principle and the last position is connected back to the first position to make a circle. It is also called </a:t>
            </a:r>
            <a:r>
              <a:rPr lang="en-US" b="1" dirty="0"/>
              <a:t>‘Ring Buffer’</a:t>
            </a:r>
            <a:r>
              <a:rPr lang="en-US" dirty="0"/>
              <a:t>.</a:t>
            </a:r>
            <a:endParaRPr lang="en-IN" dirty="0"/>
          </a:p>
        </p:txBody>
      </p:sp>
      <p:sp>
        <p:nvSpPr>
          <p:cNvPr id="4" name="Slide Number Placeholder 3">
            <a:extLst>
              <a:ext uri="{FF2B5EF4-FFF2-40B4-BE49-F238E27FC236}">
                <a16:creationId xmlns:a16="http://schemas.microsoft.com/office/drawing/2014/main" id="{B23CDE02-87AA-4C82-BED1-0DA97A15357B}"/>
              </a:ext>
            </a:extLst>
          </p:cNvPr>
          <p:cNvSpPr>
            <a:spLocks noGrp="1"/>
          </p:cNvSpPr>
          <p:nvPr>
            <p:ph type="sldNum" sz="quarter" idx="12"/>
          </p:nvPr>
        </p:nvSpPr>
        <p:spPr/>
        <p:txBody>
          <a:bodyPr/>
          <a:lstStyle/>
          <a:p>
            <a:fld id="{BDCDBBEF-AA6C-4BA6-85B2-A17D7F280E38}" type="slidenum">
              <a:rPr lang="en-US" smtClean="0"/>
              <a:pPr/>
              <a:t>17</a:t>
            </a:fld>
            <a:endParaRPr lang="en-US"/>
          </a:p>
        </p:txBody>
      </p:sp>
      <p:pic>
        <p:nvPicPr>
          <p:cNvPr id="6" name="Picture 5" descr="A picture containing clock&#10;&#10;Description automatically generated">
            <a:extLst>
              <a:ext uri="{FF2B5EF4-FFF2-40B4-BE49-F238E27FC236}">
                <a16:creationId xmlns:a16="http://schemas.microsoft.com/office/drawing/2014/main" id="{42CE6AB7-59AD-47B0-8541-89E6C1F02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2370" y="3399631"/>
            <a:ext cx="2762250" cy="2867025"/>
          </a:xfrm>
          <a:prstGeom prst="rect">
            <a:avLst/>
          </a:prstGeom>
        </p:spPr>
      </p:pic>
      <p:sp>
        <p:nvSpPr>
          <p:cNvPr id="7" name="Rectangle 6"/>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667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C9E9B7-75E6-425C-B24E-F22533F1ABAE}"/>
              </a:ext>
            </a:extLst>
          </p:cNvPr>
          <p:cNvSpPr>
            <a:spLocks noGrp="1"/>
          </p:cNvSpPr>
          <p:nvPr>
            <p:ph idx="1"/>
          </p:nvPr>
        </p:nvSpPr>
        <p:spPr>
          <a:xfrm>
            <a:off x="838200" y="352960"/>
            <a:ext cx="10515600" cy="1603375"/>
          </a:xfrm>
        </p:spPr>
        <p:txBody>
          <a:bodyPr/>
          <a:lstStyle/>
          <a:p>
            <a:pPr algn="just"/>
            <a:r>
              <a:rPr lang="en-US" dirty="0"/>
              <a:t>In a normal Queue, we can insert elements until queue becomes full. But once queue becomes full, we can not insert the next </a:t>
            </a:r>
            <a:r>
              <a:rPr lang="en-US" dirty="0" smtClean="0"/>
              <a:t>element. Where as in circular queue space of deleted elements can be utilized.</a:t>
            </a:r>
            <a:endParaRPr lang="en-US" dirty="0"/>
          </a:p>
          <a:p>
            <a:pPr algn="just"/>
            <a:endParaRPr lang="en-IN" dirty="0"/>
          </a:p>
        </p:txBody>
      </p:sp>
      <p:sp>
        <p:nvSpPr>
          <p:cNvPr id="4" name="Slide Number Placeholder 3">
            <a:extLst>
              <a:ext uri="{FF2B5EF4-FFF2-40B4-BE49-F238E27FC236}">
                <a16:creationId xmlns:a16="http://schemas.microsoft.com/office/drawing/2014/main" id="{098E7F24-73FE-434A-BB34-419B00286C6A}"/>
              </a:ext>
            </a:extLst>
          </p:cNvPr>
          <p:cNvSpPr>
            <a:spLocks noGrp="1"/>
          </p:cNvSpPr>
          <p:nvPr>
            <p:ph type="sldNum" sz="quarter" idx="12"/>
          </p:nvPr>
        </p:nvSpPr>
        <p:spPr/>
        <p:txBody>
          <a:bodyPr/>
          <a:lstStyle/>
          <a:p>
            <a:fld id="{BDCDBBEF-AA6C-4BA6-85B2-A17D7F280E38}" type="slidenum">
              <a:rPr lang="en-US" smtClean="0"/>
              <a:pPr/>
              <a:t>18</a:t>
            </a:fld>
            <a:endParaRPr lang="en-US"/>
          </a:p>
        </p:txBody>
      </p:sp>
      <p:pic>
        <p:nvPicPr>
          <p:cNvPr id="6" name="Picture 5">
            <a:extLst>
              <a:ext uri="{FF2B5EF4-FFF2-40B4-BE49-F238E27FC236}">
                <a16:creationId xmlns:a16="http://schemas.microsoft.com/office/drawing/2014/main" id="{C8520006-34F3-4140-88FD-835F5B97F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783" y="1811723"/>
            <a:ext cx="10281262" cy="4544627"/>
          </a:xfrm>
          <a:prstGeom prst="rect">
            <a:avLst/>
          </a:prstGeom>
        </p:spPr>
      </p:pic>
    </p:spTree>
    <p:extLst>
      <p:ext uri="{BB962C8B-B14F-4D97-AF65-F5344CB8AC3E}">
        <p14:creationId xmlns:p14="http://schemas.microsoft.com/office/powerpoint/2010/main" val="1237763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D6DE8C-BD24-4D57-93B6-C2226DE7957A}"/>
              </a:ext>
            </a:extLst>
          </p:cNvPr>
          <p:cNvSpPr>
            <a:spLocks noGrp="1"/>
          </p:cNvSpPr>
          <p:nvPr>
            <p:ph idx="1"/>
          </p:nvPr>
        </p:nvSpPr>
        <p:spPr>
          <a:xfrm>
            <a:off x="838200" y="471638"/>
            <a:ext cx="10515600" cy="5705325"/>
          </a:xfrm>
        </p:spPr>
        <p:txBody>
          <a:bodyPr>
            <a:normAutofit fontScale="92500" lnSpcReduction="10000"/>
          </a:bodyPr>
          <a:lstStyle/>
          <a:p>
            <a:pPr marL="0" indent="0" fontAlgn="base">
              <a:buNone/>
            </a:pPr>
            <a:r>
              <a:rPr lang="en-US" dirty="0"/>
              <a:t>Operations on Circular Queue:</a:t>
            </a:r>
          </a:p>
          <a:p>
            <a:pPr fontAlgn="base"/>
            <a:r>
              <a:rPr lang="en-US" b="1" dirty="0"/>
              <a:t>Front:</a:t>
            </a:r>
            <a:r>
              <a:rPr lang="en-US" dirty="0"/>
              <a:t> Get the front item from queue.</a:t>
            </a:r>
          </a:p>
          <a:p>
            <a:pPr fontAlgn="base"/>
            <a:r>
              <a:rPr lang="en-US" b="1" dirty="0"/>
              <a:t>Rear:</a:t>
            </a:r>
            <a:r>
              <a:rPr lang="en-US" dirty="0"/>
              <a:t> Get the last item from queue</a:t>
            </a:r>
            <a:r>
              <a:rPr lang="en-US" dirty="0" smtClean="0"/>
              <a:t>.</a:t>
            </a:r>
          </a:p>
          <a:p>
            <a:pPr fontAlgn="base"/>
            <a:r>
              <a:rPr lang="en-US" b="1" dirty="0" err="1" smtClean="0"/>
              <a:t>enQueue</a:t>
            </a:r>
            <a:r>
              <a:rPr lang="en-US" b="1" dirty="0" smtClean="0"/>
              <a:t>(value</a:t>
            </a:r>
            <a:r>
              <a:rPr lang="en-US" b="1" dirty="0"/>
              <a:t>) </a:t>
            </a:r>
            <a:r>
              <a:rPr lang="en-US" dirty="0"/>
              <a:t>This function is used to insert an element into the circular queue. In a circular queue, the new element is always inserted at Rear position.</a:t>
            </a:r>
          </a:p>
          <a:p>
            <a:pPr marL="381000" lvl="0" indent="-381000">
              <a:spcBef>
                <a:spcPct val="20000"/>
              </a:spcBef>
              <a:buNone/>
              <a:defRPr/>
            </a:pPr>
            <a:r>
              <a:rPr lang="en-US" sz="2000" dirty="0" smtClean="0">
                <a:latin typeface="Cambria" pitchFamily="18" charset="0"/>
              </a:rPr>
              <a:t>[Queue already fill]</a:t>
            </a:r>
          </a:p>
          <a:p>
            <a:pPr marL="381000" lvl="0" indent="-381000">
              <a:spcBef>
                <a:spcPct val="20000"/>
              </a:spcBef>
              <a:buFontTx/>
              <a:buAutoNum type="arabicPeriod"/>
              <a:defRPr/>
            </a:pPr>
            <a:r>
              <a:rPr lang="en-US" sz="2000" dirty="0" smtClean="0">
                <a:latin typeface="Cambria" pitchFamily="18" charset="0"/>
              </a:rPr>
              <a:t>If FRONT=1 and REAR=N, or if FRONT=REAR+1, then :  Write: Overflow, and Exit.</a:t>
            </a:r>
          </a:p>
          <a:p>
            <a:pPr marL="381000" lvl="0" indent="-381000">
              <a:spcBef>
                <a:spcPct val="20000"/>
              </a:spcBef>
              <a:buFontTx/>
              <a:buAutoNum type="arabicPeriod"/>
              <a:defRPr/>
            </a:pPr>
            <a:r>
              <a:rPr lang="en-US" sz="2000" dirty="0" smtClean="0">
                <a:latin typeface="Cambria" pitchFamily="18" charset="0"/>
              </a:rPr>
              <a:t> [Find new value of REAR]                                                                              </a:t>
            </a:r>
          </a:p>
          <a:p>
            <a:pPr marL="381000" lvl="0" indent="-381000">
              <a:spcBef>
                <a:spcPct val="20000"/>
              </a:spcBef>
              <a:buNone/>
              <a:defRPr/>
            </a:pPr>
            <a:r>
              <a:rPr lang="en-US" sz="2000" dirty="0" smtClean="0">
                <a:latin typeface="Cambria" pitchFamily="18" charset="0"/>
              </a:rPr>
              <a:t>	   If FRONT=NULL, then :[Queue initially empty]                                                </a:t>
            </a:r>
          </a:p>
          <a:p>
            <a:pPr marL="381000" lvl="0" indent="-381000">
              <a:spcBef>
                <a:spcPct val="20000"/>
              </a:spcBef>
              <a:buNone/>
              <a:defRPr/>
            </a:pPr>
            <a:r>
              <a:rPr lang="en-US" sz="2000" dirty="0" smtClean="0">
                <a:latin typeface="Cambria" pitchFamily="18" charset="0"/>
              </a:rPr>
              <a:t>		 Set FRONT:=1 and REAR:=1                                                                     </a:t>
            </a:r>
          </a:p>
          <a:p>
            <a:pPr marL="381000" lvl="0" indent="-381000">
              <a:spcBef>
                <a:spcPct val="20000"/>
              </a:spcBef>
              <a:buNone/>
              <a:defRPr/>
            </a:pPr>
            <a:r>
              <a:rPr lang="en-US" sz="2000" dirty="0" smtClean="0">
                <a:latin typeface="Cambria" pitchFamily="18" charset="0"/>
              </a:rPr>
              <a:t>	 Else if REAR =N then      </a:t>
            </a:r>
          </a:p>
          <a:p>
            <a:pPr marL="381000" lvl="0" indent="-381000">
              <a:spcBef>
                <a:spcPct val="20000"/>
              </a:spcBef>
              <a:buNone/>
              <a:defRPr/>
            </a:pPr>
            <a:r>
              <a:rPr lang="en-US" sz="2000" dirty="0" smtClean="0">
                <a:latin typeface="Cambria" pitchFamily="18" charset="0"/>
              </a:rPr>
              <a:t>                    Set REAR:=1                                                                        </a:t>
            </a:r>
          </a:p>
          <a:p>
            <a:pPr marL="381000" lvl="0" indent="-381000">
              <a:spcBef>
                <a:spcPct val="20000"/>
              </a:spcBef>
              <a:buNone/>
              <a:defRPr/>
            </a:pPr>
            <a:r>
              <a:rPr lang="en-US" sz="2000" dirty="0" smtClean="0">
                <a:latin typeface="Cambria" pitchFamily="18" charset="0"/>
              </a:rPr>
              <a:t>         Else Set REAR:=REAR+1                                                                         </a:t>
            </a:r>
          </a:p>
          <a:p>
            <a:pPr marL="381000" lvl="0" indent="-381000">
              <a:spcBef>
                <a:spcPct val="20000"/>
              </a:spcBef>
              <a:buNone/>
              <a:defRPr/>
            </a:pPr>
            <a:r>
              <a:rPr lang="en-US" sz="2000" dirty="0" smtClean="0">
                <a:latin typeface="Cambria" pitchFamily="18" charset="0"/>
              </a:rPr>
              <a:t>       [End of if structure]</a:t>
            </a:r>
          </a:p>
          <a:p>
            <a:pPr marL="381000" lvl="0" indent="-381000">
              <a:spcBef>
                <a:spcPct val="20000"/>
              </a:spcBef>
              <a:buNone/>
              <a:defRPr/>
            </a:pPr>
            <a:r>
              <a:rPr lang="en-US" sz="2000" dirty="0" smtClean="0">
                <a:latin typeface="Cambria" pitchFamily="18" charset="0"/>
              </a:rPr>
              <a:t>3.    Set  QUEUE[REAR]:=ITEM [This inserts new element]</a:t>
            </a:r>
          </a:p>
          <a:p>
            <a:pPr marL="381000" lvl="0" indent="-381000">
              <a:spcBef>
                <a:spcPct val="20000"/>
              </a:spcBef>
              <a:buNone/>
              <a:defRPr/>
            </a:pPr>
            <a:r>
              <a:rPr lang="en-US" sz="2000" dirty="0" smtClean="0">
                <a:latin typeface="Cambria" pitchFamily="18" charset="0"/>
              </a:rPr>
              <a:t>4.     Exit.</a:t>
            </a:r>
            <a:endParaRPr lang="en-IN" sz="2000" dirty="0"/>
          </a:p>
        </p:txBody>
      </p:sp>
      <p:sp>
        <p:nvSpPr>
          <p:cNvPr id="4" name="Slide Number Placeholder 3">
            <a:extLst>
              <a:ext uri="{FF2B5EF4-FFF2-40B4-BE49-F238E27FC236}">
                <a16:creationId xmlns:a16="http://schemas.microsoft.com/office/drawing/2014/main" id="{D7FDBD5A-1692-41FA-A354-2327215F5E43}"/>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2135345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5E5455-C973-4983-AB48-2658FA896110}"/>
              </a:ext>
            </a:extLst>
          </p:cNvPr>
          <p:cNvSpPr>
            <a:spLocks noGrp="1"/>
          </p:cNvSpPr>
          <p:nvPr>
            <p:ph idx="1"/>
          </p:nvPr>
        </p:nvSpPr>
        <p:spPr>
          <a:xfrm>
            <a:off x="838200" y="404949"/>
            <a:ext cx="10515600" cy="6188356"/>
          </a:xfrm>
        </p:spPr>
        <p:txBody>
          <a:bodyPr>
            <a:normAutofit lnSpcReduction="10000"/>
          </a:bodyPr>
          <a:lstStyle/>
          <a:p>
            <a:pPr marL="0" indent="0" algn="just" fontAlgn="base">
              <a:buNone/>
            </a:pPr>
            <a:r>
              <a:rPr lang="en-US" b="1" dirty="0" err="1" smtClean="0"/>
              <a:t>deQueue</a:t>
            </a:r>
            <a:r>
              <a:rPr lang="en-US" b="1" dirty="0" smtClean="0"/>
              <a:t>()</a:t>
            </a:r>
            <a:r>
              <a:rPr lang="en-US" dirty="0" smtClean="0"/>
              <a:t> This function is used to delete an element from the circular queue. In a circular queue, the element is always deleted from front position.</a:t>
            </a:r>
          </a:p>
          <a:p>
            <a:pPr marL="0" indent="0" fontAlgn="base">
              <a:buNone/>
            </a:pPr>
            <a:endParaRPr lang="en-US" b="1" dirty="0" smtClean="0"/>
          </a:p>
          <a:p>
            <a:pPr marL="381000" indent="-381000">
              <a:buNone/>
            </a:pPr>
            <a:r>
              <a:rPr lang="en-US" sz="1900" dirty="0" smtClean="0">
                <a:latin typeface="Cambria" pitchFamily="18" charset="0"/>
              </a:rPr>
              <a:t>1. [Queue already empty]</a:t>
            </a:r>
          </a:p>
          <a:p>
            <a:pPr marL="381000" indent="-381000">
              <a:buNone/>
            </a:pPr>
            <a:r>
              <a:rPr lang="en-US" sz="1900" dirty="0" smtClean="0">
                <a:latin typeface="Cambria" pitchFamily="18" charset="0"/>
              </a:rPr>
              <a:t>        If FRONT=NULL, then Write: Underflow, and Exit. </a:t>
            </a:r>
          </a:p>
          <a:p>
            <a:pPr marL="381000" indent="-381000">
              <a:buFontTx/>
              <a:buAutoNum type="arabicPeriod" startAt="2"/>
            </a:pPr>
            <a:r>
              <a:rPr lang="en-US" sz="1900" dirty="0" smtClean="0">
                <a:latin typeface="Cambria" pitchFamily="18" charset="0"/>
              </a:rPr>
              <a:t>Set ITEM=QUEUE[FRONT]</a:t>
            </a:r>
          </a:p>
          <a:p>
            <a:pPr marL="381000" indent="-381000">
              <a:buFontTx/>
              <a:buAutoNum type="arabicPeriod" startAt="2"/>
            </a:pPr>
            <a:r>
              <a:rPr lang="en-US" sz="1900" dirty="0" smtClean="0">
                <a:latin typeface="Cambria" pitchFamily="18" charset="0"/>
              </a:rPr>
              <a:t>[Find new value of FRONT]                                                                       </a:t>
            </a:r>
          </a:p>
          <a:p>
            <a:pPr marL="381000" indent="-381000">
              <a:buNone/>
            </a:pPr>
            <a:r>
              <a:rPr lang="en-US" sz="1900" dirty="0" smtClean="0">
                <a:latin typeface="Cambria" pitchFamily="18" charset="0"/>
              </a:rPr>
              <a:t>	    If FRONT=REAR, then [Queue  has only one element to start]           </a:t>
            </a:r>
          </a:p>
          <a:p>
            <a:pPr marL="381000" indent="-381000">
              <a:buNone/>
            </a:pPr>
            <a:r>
              <a:rPr lang="en-US" sz="1900" dirty="0" smtClean="0">
                <a:latin typeface="Cambria" pitchFamily="18" charset="0"/>
              </a:rPr>
              <a:t>		     Set FRONT=NULL and REAR=NULL                                                     </a:t>
            </a:r>
          </a:p>
          <a:p>
            <a:pPr marL="381000" indent="-381000">
              <a:buNone/>
            </a:pPr>
            <a:r>
              <a:rPr lang="en-US" sz="1900" dirty="0" smtClean="0">
                <a:latin typeface="Cambria" pitchFamily="18" charset="0"/>
              </a:rPr>
              <a:t>	     Else if FRONT =N then                                                                      </a:t>
            </a:r>
          </a:p>
          <a:p>
            <a:pPr marL="381000" indent="-381000">
              <a:buNone/>
            </a:pPr>
            <a:r>
              <a:rPr lang="en-US" sz="1900" dirty="0" smtClean="0">
                <a:latin typeface="Cambria" pitchFamily="18" charset="0"/>
              </a:rPr>
              <a:t>		      Set FRONT =1                                                                               </a:t>
            </a:r>
          </a:p>
          <a:p>
            <a:pPr marL="381000" indent="-381000">
              <a:buNone/>
            </a:pPr>
            <a:r>
              <a:rPr lang="en-US" sz="1900" dirty="0" smtClean="0">
                <a:latin typeface="Cambria" pitchFamily="18" charset="0"/>
              </a:rPr>
              <a:t>	      Else </a:t>
            </a:r>
          </a:p>
          <a:p>
            <a:pPr marL="381000" indent="-381000">
              <a:buNone/>
            </a:pPr>
            <a:r>
              <a:rPr lang="en-US" sz="1900" dirty="0" smtClean="0">
                <a:latin typeface="Cambria" pitchFamily="18" charset="0"/>
              </a:rPr>
              <a:t>		       Set FRONT = FRONT +1                                                              </a:t>
            </a:r>
          </a:p>
          <a:p>
            <a:pPr marL="381000" indent="-381000">
              <a:buNone/>
            </a:pPr>
            <a:r>
              <a:rPr lang="en-US" sz="1900" dirty="0" smtClean="0">
                <a:latin typeface="Cambria" pitchFamily="18" charset="0"/>
              </a:rPr>
              <a:t>	  [End of if structure]</a:t>
            </a:r>
          </a:p>
          <a:p>
            <a:pPr marL="381000" indent="-381000">
              <a:buNone/>
            </a:pPr>
            <a:r>
              <a:rPr lang="en-US" sz="1900" dirty="0" smtClean="0">
                <a:latin typeface="Cambria" pitchFamily="18" charset="0"/>
              </a:rPr>
              <a:t>4.     Exit</a:t>
            </a:r>
          </a:p>
          <a:p>
            <a:pPr marL="0" indent="0" fontAlgn="base">
              <a:buNone/>
            </a:pPr>
            <a:endParaRPr lang="en-US" b="1" dirty="0" smtClean="0"/>
          </a:p>
        </p:txBody>
      </p:sp>
      <p:sp>
        <p:nvSpPr>
          <p:cNvPr id="4" name="Slide Number Placeholder 3">
            <a:extLst>
              <a:ext uri="{FF2B5EF4-FFF2-40B4-BE49-F238E27FC236}">
                <a16:creationId xmlns:a16="http://schemas.microsoft.com/office/drawing/2014/main" id="{527D8DE7-ED1A-4CB9-A353-98C1D027BE37}"/>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2443051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Casper Bold"/>
              </a:rPr>
              <a:t>EXAMPLE: Insertion &amp; Deletion in a circular queue</a:t>
            </a:r>
            <a:endParaRPr lang="en-US" sz="3200" b="1" dirty="0">
              <a:latin typeface="Casper Bold"/>
            </a:endParaRPr>
          </a:p>
        </p:txBody>
      </p:sp>
      <p:pic>
        <p:nvPicPr>
          <p:cNvPr id="96258" name="Picture 2"/>
          <p:cNvPicPr>
            <a:picLocks noGrp="1" noChangeAspect="1" noChangeArrowheads="1"/>
          </p:cNvPicPr>
          <p:nvPr>
            <p:ph idx="1"/>
          </p:nvPr>
        </p:nvPicPr>
        <p:blipFill>
          <a:blip r:embed="rId2" cstate="print">
            <a:lum bright="16000"/>
          </a:blip>
          <a:srcRect/>
          <a:stretch>
            <a:fillRect/>
          </a:stretch>
        </p:blipFill>
        <p:spPr bwMode="auto">
          <a:xfrm>
            <a:off x="3422152" y="1752600"/>
            <a:ext cx="6262097" cy="4495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Casper Bold"/>
              </a:rPr>
              <a:t>Advantages of circular queue over linear queue</a:t>
            </a:r>
            <a:endParaRPr lang="en-US" sz="3600" b="1" dirty="0">
              <a:latin typeface="Casper Bold"/>
            </a:endParaRPr>
          </a:p>
        </p:txBody>
      </p:sp>
      <p:sp>
        <p:nvSpPr>
          <p:cNvPr id="3" name="Content Placeholder 2"/>
          <p:cNvSpPr>
            <a:spLocks noGrp="1"/>
          </p:cNvSpPr>
          <p:nvPr>
            <p:ph idx="1"/>
          </p:nvPr>
        </p:nvSpPr>
        <p:spPr/>
        <p:txBody>
          <a:bodyPr/>
          <a:lstStyle/>
          <a:p>
            <a:r>
              <a:rPr lang="en-US" dirty="0" smtClean="0"/>
              <a:t>In circular queue, the memory of the deleted process can be used by some other new process.</a:t>
            </a:r>
          </a:p>
          <a:p>
            <a:r>
              <a:rPr lang="en-US" dirty="0" smtClean="0"/>
              <a:t>Rear insertion is denied in a linear queue even if the room is available. Thus, even if the free memory is available, we cannot access these memory locations. This is the major disadvantage of linear queue which is overcome by circular queue.</a:t>
            </a:r>
          </a:p>
          <a:p>
            <a:endParaRPr lang="en-US" dirty="0" smtClean="0"/>
          </a:p>
          <a:p>
            <a:r>
              <a:rPr lang="en-US" b="1" u="sng" dirty="0" smtClean="0"/>
              <a:t>Time Complexity:</a:t>
            </a:r>
            <a:r>
              <a:rPr lang="en-US" u="sng" dirty="0" smtClean="0"/>
              <a:t> </a:t>
            </a:r>
            <a:r>
              <a:rPr lang="en-US" dirty="0" smtClean="0"/>
              <a:t>Time complexity of </a:t>
            </a:r>
            <a:r>
              <a:rPr lang="en-US" dirty="0" err="1" smtClean="0"/>
              <a:t>enQueue</a:t>
            </a:r>
            <a:r>
              <a:rPr lang="en-US" dirty="0" smtClean="0"/>
              <a:t>(), </a:t>
            </a:r>
            <a:r>
              <a:rPr lang="en-US" dirty="0" err="1" smtClean="0"/>
              <a:t>deQueue</a:t>
            </a:r>
            <a:r>
              <a:rPr lang="en-US" dirty="0" smtClean="0"/>
              <a:t>() operation is O(1) as there is no loop in any of the operation.</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r>
              <a:rPr lang="en-US" sz="4000" b="1" dirty="0">
                <a:latin typeface="Casper Bold"/>
              </a:rPr>
              <a:t>Applications of Queue</a:t>
            </a:r>
          </a:p>
        </p:txBody>
      </p:sp>
      <p:sp>
        <p:nvSpPr>
          <p:cNvPr id="3" name="Content Placeholder 2"/>
          <p:cNvSpPr>
            <a:spLocks noGrp="1"/>
          </p:cNvSpPr>
          <p:nvPr>
            <p:ph idx="1"/>
          </p:nvPr>
        </p:nvSpPr>
        <p:spPr/>
        <p:txBody>
          <a:bodyPr>
            <a:normAutofit/>
          </a:bodyPr>
          <a:lstStyle/>
          <a:p>
            <a:pPr marL="342900" lvl="1" indent="-342900">
              <a:lnSpc>
                <a:spcPct val="100000"/>
              </a:lnSpc>
              <a:spcBef>
                <a:spcPct val="20000"/>
              </a:spcBef>
              <a:defRPr/>
            </a:pPr>
            <a:r>
              <a:rPr lang="en-US" sz="2000" dirty="0" smtClean="0"/>
              <a:t>Resource sharing among multiple consumers.</a:t>
            </a:r>
          </a:p>
          <a:p>
            <a:pPr marL="342900" lvl="1" indent="-342900" algn="just">
              <a:lnSpc>
                <a:spcPct val="100000"/>
              </a:lnSpc>
              <a:spcBef>
                <a:spcPct val="20000"/>
              </a:spcBef>
              <a:defRPr/>
            </a:pPr>
            <a:r>
              <a:rPr lang="en-US" sz="2000" dirty="0" smtClean="0"/>
              <a:t>Queues are useful in time sharing systems where many  user jobs will be waiting in the system queue for processing. These jobs may request the services of the CPU, main memory or external devices such as printers, etc. All these jobs will be given a fixed time for processing and are allowed to use one after the other. This is the case of an ordinary queue where priority is the same for all the jobs &amp; whichever job is submitted first, that job will be processed.</a:t>
            </a:r>
          </a:p>
          <a:p>
            <a:pPr marL="342900" lvl="1" indent="-342900" algn="just">
              <a:lnSpc>
                <a:spcPct val="100000"/>
              </a:lnSpc>
              <a:spcBef>
                <a:spcPct val="20000"/>
              </a:spcBef>
              <a:defRPr/>
            </a:pPr>
            <a:r>
              <a:rPr lang="en-US" sz="2000" dirty="0" smtClean="0"/>
              <a:t>Queues are used in designing CPU schedulers where jobs are dispatched to the CPU based on priority of the job.</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6467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sz="4800" b="1" dirty="0">
                <a:latin typeface="Casper Bold"/>
              </a:rPr>
              <a:t>REFERENCES</a:t>
            </a:r>
            <a:r>
              <a:rPr lang="en-US" b="1" dirty="0">
                <a:latin typeface="Casper Bold" panose="02000806040000020004" pitchFamily="2" charset="0"/>
                <a:cs typeface="Arial" panose="020B0604020202020204" pitchFamily="34" charset="0"/>
              </a:rPr>
              <a:t> </a:t>
            </a:r>
            <a:r>
              <a:rPr lang="en-US" sz="4000" b="1"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p:txBody>
          <a:bodyPr>
            <a:normAutofit/>
          </a:bodyPr>
          <a:lstStyle/>
          <a:p>
            <a:pPr marL="0" indent="0">
              <a:buNone/>
            </a:pPr>
            <a:endParaRPr lang="en-US" sz="1600" dirty="0">
              <a:hlinkClick r:id="rId2"/>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2"/>
              </a:rPr>
              <a:t>https://www.cs.cmu.edu/~adamchik/15-121/lectures/Stacks%20and%20Queues/Stacks%20and%20Queues.html</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rPr>
              <a:t>Data Structures with C/ </a:t>
            </a:r>
            <a:r>
              <a:rPr lang="en-US" sz="1600" dirty="0" err="1">
                <a:solidFill>
                  <a:schemeClr val="tx1">
                    <a:lumMod val="85000"/>
                    <a:lumOff val="15000"/>
                  </a:schemeClr>
                </a:solidFill>
                <a:latin typeface="Casper" panose="02000506000000020004" pitchFamily="2" charset="0"/>
                <a:cs typeface="Arial" panose="020B0604020202020204" pitchFamily="34" charset="0"/>
              </a:rPr>
              <a:t>schaum</a:t>
            </a:r>
            <a:r>
              <a:rPr lang="en-US" sz="1600" dirty="0">
                <a:solidFill>
                  <a:schemeClr val="tx1">
                    <a:lumMod val="85000"/>
                    <a:lumOff val="15000"/>
                  </a:schemeClr>
                </a:solidFill>
                <a:latin typeface="Casper" panose="02000506000000020004" pitchFamily="2" charset="0"/>
                <a:cs typeface="Arial" panose="020B0604020202020204" pitchFamily="34" charset="0"/>
              </a:rPr>
              <a:t>  outline series/ volume 2</a:t>
            </a: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3"/>
              </a:rPr>
              <a:t>https://www.geeksforgeeks.org/stack-data-structure-introduction-program/</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4"/>
              </a:rPr>
              <a:t>https://www.geeksforgeeks.org/queue-set-1introduction-and-array-implementation/</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5"/>
              </a:rPr>
              <a:t>http://www.yashcode.com/2017/11/prefix-to-postfix-conversion-using-stack.html</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Lipschutz</a:t>
            </a:r>
            <a:r>
              <a:rPr lang="en-US" sz="1600" dirty="0">
                <a:solidFill>
                  <a:schemeClr val="tx1">
                    <a:lumMod val="85000"/>
                    <a:lumOff val="15000"/>
                  </a:schemeClr>
                </a:solidFill>
                <a:latin typeface="Casper" panose="02000506000000020004" pitchFamily="2" charset="0"/>
                <a:cs typeface="Arial" panose="020B0604020202020204" pitchFamily="34" charset="0"/>
              </a:rPr>
              <a:t>, Seymour, “Data Structures”, </a:t>
            </a:r>
            <a:r>
              <a:rPr lang="en-US" sz="1600" dirty="0" err="1">
                <a:solidFill>
                  <a:schemeClr val="tx1">
                    <a:lumMod val="85000"/>
                    <a:lumOff val="15000"/>
                  </a:schemeClr>
                </a:solidFill>
                <a:latin typeface="Casper" panose="02000506000000020004" pitchFamily="2" charset="0"/>
                <a:cs typeface="Arial" panose="020B0604020202020204" pitchFamily="34" charset="0"/>
              </a:rPr>
              <a:t>Schaum's</a:t>
            </a:r>
            <a:r>
              <a:rPr lang="en-US" sz="1600" dirty="0">
                <a:solidFill>
                  <a:schemeClr val="tx1">
                    <a:lumMod val="85000"/>
                    <a:lumOff val="15000"/>
                  </a:schemeClr>
                </a:solidFill>
                <a:latin typeface="Casper" panose="02000506000000020004" pitchFamily="2" charset="0"/>
                <a:cs typeface="Arial" panose="020B0604020202020204" pitchFamily="34" charset="0"/>
              </a:rPr>
              <a:t> Outline Series, Tata McGraw Hill.</a:t>
            </a: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Gilberg</a:t>
            </a:r>
            <a:r>
              <a:rPr lang="en-US" sz="1600" dirty="0">
                <a:solidFill>
                  <a:schemeClr val="tx1">
                    <a:lumMod val="85000"/>
                    <a:lumOff val="15000"/>
                  </a:schemeClr>
                </a:solidFill>
                <a:latin typeface="Casper" panose="02000506000000020004" pitchFamily="2" charset="0"/>
                <a:cs typeface="Arial" panose="020B0604020202020204" pitchFamily="34" charset="0"/>
              </a:rPr>
              <a:t>/</a:t>
            </a:r>
            <a:r>
              <a:rPr lang="en-US" sz="1600" dirty="0" err="1">
                <a:solidFill>
                  <a:schemeClr val="tx1">
                    <a:lumMod val="85000"/>
                    <a:lumOff val="15000"/>
                  </a:schemeClr>
                </a:solidFill>
                <a:latin typeface="Casper" panose="02000506000000020004" pitchFamily="2" charset="0"/>
                <a:cs typeface="Arial" panose="020B0604020202020204" pitchFamily="34" charset="0"/>
              </a:rPr>
              <a:t>Forouzan</a:t>
            </a:r>
            <a:r>
              <a:rPr lang="en-US" sz="1600" dirty="0">
                <a:solidFill>
                  <a:schemeClr val="tx1">
                    <a:lumMod val="85000"/>
                    <a:lumOff val="15000"/>
                  </a:schemeClr>
                </a:solidFill>
                <a:latin typeface="Casper" panose="02000506000000020004" pitchFamily="2" charset="0"/>
                <a:cs typeface="Arial" panose="020B0604020202020204" pitchFamily="34" charset="0"/>
              </a:rPr>
              <a:t>,” Data Structure with C ,</a:t>
            </a:r>
            <a:r>
              <a:rPr lang="en-US" sz="1600" dirty="0" err="1">
                <a:solidFill>
                  <a:schemeClr val="tx1">
                    <a:lumMod val="85000"/>
                    <a:lumOff val="15000"/>
                  </a:schemeClr>
                </a:solidFill>
                <a:latin typeface="Casper" panose="02000506000000020004" pitchFamily="2" charset="0"/>
                <a:cs typeface="Arial" panose="020B0604020202020204" pitchFamily="34" charset="0"/>
              </a:rPr>
              <a:t>Cengage</a:t>
            </a:r>
            <a:r>
              <a:rPr lang="en-US" sz="1600" dirty="0">
                <a:solidFill>
                  <a:schemeClr val="tx1">
                    <a:lumMod val="85000"/>
                    <a:lumOff val="15000"/>
                  </a:schemeClr>
                </a:solidFill>
                <a:latin typeface="Casper" panose="02000506000000020004" pitchFamily="2" charset="0"/>
                <a:cs typeface="Arial" panose="020B0604020202020204" pitchFamily="34" charset="0"/>
              </a:rPr>
              <a:t> Learning.</a:t>
            </a: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Augenstein,Moshe</a:t>
            </a:r>
            <a:r>
              <a:rPr lang="en-US" sz="1600" dirty="0">
                <a:solidFill>
                  <a:schemeClr val="tx1">
                    <a:lumMod val="85000"/>
                    <a:lumOff val="15000"/>
                  </a:schemeClr>
                </a:solidFill>
                <a:latin typeface="Casper" panose="02000506000000020004" pitchFamily="2" charset="0"/>
                <a:cs typeface="Arial" panose="020B0604020202020204" pitchFamily="34" charset="0"/>
              </a:rPr>
              <a:t> J , </a:t>
            </a:r>
            <a:r>
              <a:rPr lang="en-US" sz="1600" dirty="0" err="1">
                <a:solidFill>
                  <a:schemeClr val="tx1">
                    <a:lumMod val="85000"/>
                    <a:lumOff val="15000"/>
                  </a:schemeClr>
                </a:solidFill>
                <a:latin typeface="Casper" panose="02000506000000020004" pitchFamily="2" charset="0"/>
                <a:cs typeface="Arial" panose="020B0604020202020204" pitchFamily="34" charset="0"/>
              </a:rPr>
              <a:t>Tanenbaum</a:t>
            </a:r>
            <a:r>
              <a:rPr lang="en-US" sz="1600" dirty="0">
                <a:solidFill>
                  <a:schemeClr val="tx1">
                    <a:lumMod val="85000"/>
                    <a:lumOff val="15000"/>
                  </a:schemeClr>
                </a:solidFill>
                <a:latin typeface="Casper" panose="02000506000000020004" pitchFamily="2" charset="0"/>
                <a:cs typeface="Arial" panose="020B0604020202020204" pitchFamily="34" charset="0"/>
              </a:rPr>
              <a:t>, Aaron  M, “Data Structures using C and C++”, Prentice Hall of India.</a:t>
            </a:r>
          </a:p>
          <a:p>
            <a:pPr lvl="0"/>
            <a:r>
              <a:rPr lang="en-US" sz="1600" dirty="0">
                <a:solidFill>
                  <a:schemeClr val="tx1">
                    <a:lumMod val="85000"/>
                    <a:lumOff val="15000"/>
                  </a:schemeClr>
                </a:solidFill>
                <a:latin typeface="Casper" panose="02000506000000020004" pitchFamily="2" charset="0"/>
                <a:cs typeface="Arial" panose="020B0604020202020204" pitchFamily="34" charset="0"/>
              </a:rPr>
              <a:t>Goodrich, Michael T., </a:t>
            </a:r>
            <a:r>
              <a:rPr lang="en-US" sz="1600" dirty="0" err="1">
                <a:solidFill>
                  <a:schemeClr val="tx1">
                    <a:lumMod val="85000"/>
                    <a:lumOff val="15000"/>
                  </a:schemeClr>
                </a:solidFill>
                <a:latin typeface="Casper" panose="02000506000000020004" pitchFamily="2" charset="0"/>
                <a:cs typeface="Arial" panose="020B0604020202020204" pitchFamily="34" charset="0"/>
              </a:rPr>
              <a:t>Tamassia</a:t>
            </a:r>
            <a:r>
              <a:rPr lang="en-US" sz="1600" dirty="0">
                <a:solidFill>
                  <a:schemeClr val="tx1">
                    <a:lumMod val="85000"/>
                    <a:lumOff val="15000"/>
                  </a:schemeClr>
                </a:solidFill>
                <a:latin typeface="Casper" panose="02000506000000020004" pitchFamily="2" charset="0"/>
                <a:cs typeface="Arial" panose="020B0604020202020204" pitchFamily="34" charset="0"/>
              </a:rPr>
              <a:t>, Roberto, and Mount, David M., “Data Structures and Algorithms in C++”, Wiley Student Edition.</a:t>
            </a:r>
          </a:p>
          <a:p>
            <a:r>
              <a:rPr lang="en-US" sz="1600" dirty="0" err="1">
                <a:solidFill>
                  <a:schemeClr val="tx1">
                    <a:lumMod val="85000"/>
                    <a:lumOff val="15000"/>
                  </a:schemeClr>
                </a:solidFill>
                <a:latin typeface="Casper" panose="02000506000000020004" pitchFamily="2" charset="0"/>
                <a:cs typeface="Arial" panose="020B0604020202020204" pitchFamily="34" charset="0"/>
              </a:rPr>
              <a:t>Aho</a:t>
            </a:r>
            <a:r>
              <a:rPr lang="en-US" sz="1600" dirty="0">
                <a:solidFill>
                  <a:schemeClr val="tx1">
                    <a:lumMod val="85000"/>
                    <a:lumOff val="15000"/>
                  </a:schemeClr>
                </a:solidFill>
                <a:latin typeface="Casper" panose="02000506000000020004" pitchFamily="2" charset="0"/>
                <a:cs typeface="Arial" panose="020B0604020202020204" pitchFamily="34" charset="0"/>
              </a:rPr>
              <a:t>, Alfred V., Ullman, Jeffrey D., </a:t>
            </a:r>
            <a:r>
              <a:rPr lang="en-US" sz="1600" dirty="0" err="1">
                <a:solidFill>
                  <a:schemeClr val="tx1">
                    <a:lumMod val="85000"/>
                    <a:lumOff val="15000"/>
                  </a:schemeClr>
                </a:solidFill>
                <a:latin typeface="Casper" panose="02000506000000020004" pitchFamily="2" charset="0"/>
                <a:cs typeface="Arial" panose="020B0604020202020204" pitchFamily="34" charset="0"/>
              </a:rPr>
              <a:t>Hopcroft</a:t>
            </a:r>
            <a:r>
              <a:rPr lang="en-US" sz="1600" dirty="0">
                <a:solidFill>
                  <a:schemeClr val="tx1">
                    <a:lumMod val="85000"/>
                    <a:lumOff val="15000"/>
                  </a:schemeClr>
                </a:solidFill>
                <a:latin typeface="Casper" panose="02000506000000020004" pitchFamily="2" charset="0"/>
                <a:cs typeface="Arial" panose="020B0604020202020204" pitchFamily="34" charset="0"/>
              </a:rPr>
              <a:t> ,John E. “Data Structures and Algorithms”, Addison Wesley</a:t>
            </a:r>
          </a:p>
          <a:p>
            <a:endParaRPr lang="en-US" sz="1600" dirty="0"/>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9283" name="CorelDRAW" r:id="rId3" imgW="2169000" imgH="2169360" progId="">
                    <p:embed/>
                  </p:oleObj>
                </mc:Choice>
                <mc:Fallback>
                  <p:oleObj name="CorelDRAW" r:id="rId3" imgW="2169000" imgH="2169360" progId="">
                    <p:embed/>
                    <p:pic>
                      <p:nvPicPr>
                        <p:cNvPr id="0"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926</TotalTime>
  <Words>1386</Words>
  <Application>Microsoft Office PowerPoint</Application>
  <PresentationFormat>Widescreen</PresentationFormat>
  <Paragraphs>360</Paragraphs>
  <Slides>25</Slides>
  <Notes>3</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44" baseType="lpstr">
      <vt:lpstr>宋体</vt:lpstr>
      <vt:lpstr>Arial</vt:lpstr>
      <vt:lpstr>Arial Black</vt:lpstr>
      <vt:lpstr>Arial Unicode MS</vt:lpstr>
      <vt:lpstr>Calibri</vt:lpstr>
      <vt:lpstr>Calibri Light</vt:lpstr>
      <vt:lpstr>Cambria</vt:lpstr>
      <vt:lpstr>Casper</vt:lpstr>
      <vt:lpstr>Casper Bold</vt:lpstr>
      <vt:lpstr>Karla</vt:lpstr>
      <vt:lpstr>Monotype Sorts</vt:lpstr>
      <vt:lpstr>新細明體</vt:lpstr>
      <vt:lpstr>Segoe UI</vt:lpstr>
      <vt:lpstr>Times New Roman</vt:lpstr>
      <vt:lpstr>Verdana</vt:lpstr>
      <vt:lpstr>Wingdings</vt:lpstr>
      <vt:lpstr>1_Office Theme</vt:lpstr>
      <vt:lpstr>Contents Slide Master</vt:lpstr>
      <vt:lpstr>CorelDRAW</vt:lpstr>
      <vt:lpstr>PowerPoint Presentation</vt:lpstr>
      <vt:lpstr>Basic Data Structure Using C++</vt:lpstr>
      <vt:lpstr>PowerPoint Presentation</vt:lpstr>
      <vt:lpstr> Scheme of Evaluation  </vt:lpstr>
      <vt:lpstr>PowerPoint Presentation</vt:lpstr>
      <vt:lpstr> Queues</vt:lpstr>
      <vt:lpstr>Queues</vt:lpstr>
      <vt:lpstr>Queues</vt:lpstr>
      <vt:lpstr>Queue in everyday life</vt:lpstr>
      <vt:lpstr>Queues</vt:lpstr>
      <vt:lpstr>Array/Sequential representation of queue</vt:lpstr>
      <vt:lpstr>Queues</vt:lpstr>
      <vt:lpstr>Queue</vt:lpstr>
      <vt:lpstr>Algorithm for Insertion into a Queue</vt:lpstr>
      <vt:lpstr>Algorithm for deletion from a Queue</vt:lpstr>
      <vt:lpstr>Limitations of linear Queue</vt:lpstr>
      <vt:lpstr>Circular Queue</vt:lpstr>
      <vt:lpstr>PowerPoint Presentation</vt:lpstr>
      <vt:lpstr>PowerPoint Presentation</vt:lpstr>
      <vt:lpstr>PowerPoint Presentation</vt:lpstr>
      <vt:lpstr>EXAMPLE: Insertion &amp; Deletion in a circular queue</vt:lpstr>
      <vt:lpstr>Advantages of circular queue over linear queue</vt:lpstr>
      <vt:lpstr>Applications of Queue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nishu</cp:lastModifiedBy>
  <cp:revision>125</cp:revision>
  <dcterms:created xsi:type="dcterms:W3CDTF">2019-01-09T10:33:58Z</dcterms:created>
  <dcterms:modified xsi:type="dcterms:W3CDTF">2024-12-20T05:52:10Z</dcterms:modified>
</cp:coreProperties>
</file>